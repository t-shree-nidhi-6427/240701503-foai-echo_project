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League Spartan" charset="1" panose="00000800000000000000"/>
      <p:regular r:id="rId16"/>
    </p:embeddedFont>
    <p:embeddedFont>
      <p:font typeface="Times New Roman" charset="1" panose="02020603050405020304"/>
      <p:regular r:id="rId17"/>
    </p:embeddedFont>
    <p:embeddedFont>
      <p:font typeface="Canva Sans Bold" charset="1" panose="020B0803030501040103"/>
      <p:regular r:id="rId18"/>
    </p:embeddedFont>
    <p:embeddedFont>
      <p:font typeface="Times New Roman Bold" charset="1" panose="020208030705050203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https://tesseract-ocr.github.io/?utm_source=chatgpt.com" TargetMode="External" Type="http://schemas.openxmlformats.org/officeDocument/2006/relationships/hyperlink"/><Relationship Id="rId5" Target="https://scikit-learn.org/stable/?utm_source=chatgpt.com" TargetMode="External" Type="http://schemas.openxmlformats.org/officeDocument/2006/relationships/hyperlink"/><Relationship Id="rId6" Target="https://flask.palletsprojects.com/?utm_source=chatgpt.com" TargetMode="External" Type="http://schemas.openxmlformats.org/officeDocument/2006/relationships/hyperlink"/><Relationship Id="rId7" Target="https://docs.python.org/3/?utm_source=chatgpt.com" TargetMode="External" Type="http://schemas.openxmlformats.org/officeDocument/2006/relationships/hyperlink"/><Relationship Id="rId8" Target="https://www.sqlite.org/docs.html?utm_source=chatgpt.com" TargetMode="External" Type="http://schemas.openxmlformats.org/officeDocument/2006/relationships/hyperlink"/><Relationship Id="rId9" Target="https://github.com/madmaze/pytesseract?utm_source=chatgpt.com"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183568"/>
            <a:ext cx="5605612" cy="6521661"/>
          </a:xfrm>
          <a:custGeom>
            <a:avLst/>
            <a:gdLst/>
            <a:ahLst/>
            <a:cxnLst/>
            <a:rect r="r" b="b" t="t" l="l"/>
            <a:pathLst>
              <a:path h="6521661" w="5605612">
                <a:moveTo>
                  <a:pt x="0" y="0"/>
                </a:moveTo>
                <a:lnTo>
                  <a:pt x="5605612" y="0"/>
                </a:lnTo>
                <a:lnTo>
                  <a:pt x="5605612" y="6521661"/>
                </a:lnTo>
                <a:lnTo>
                  <a:pt x="0" y="6521661"/>
                </a:lnTo>
                <a:lnTo>
                  <a:pt x="0" y="0"/>
                </a:lnTo>
                <a:close/>
              </a:path>
            </a:pathLst>
          </a:custGeom>
          <a:blipFill>
            <a:blip r:embed="rId2"/>
            <a:stretch>
              <a:fillRect l="0" t="0" r="-81268" b="0"/>
            </a:stretch>
          </a:blipFill>
        </p:spPr>
      </p:sp>
      <p:sp>
        <p:nvSpPr>
          <p:cNvPr name="Freeform 3" id="3"/>
          <p:cNvSpPr/>
          <p:nvPr/>
        </p:nvSpPr>
        <p:spPr>
          <a:xfrm flipH="false" flipV="false" rot="-10800000">
            <a:off x="11319817" y="0"/>
            <a:ext cx="6968183" cy="3975982"/>
          </a:xfrm>
          <a:custGeom>
            <a:avLst/>
            <a:gdLst/>
            <a:ahLst/>
            <a:cxnLst/>
            <a:rect r="r" b="b" t="t" l="l"/>
            <a:pathLst>
              <a:path h="3975982" w="6968183">
                <a:moveTo>
                  <a:pt x="0" y="0"/>
                </a:moveTo>
                <a:lnTo>
                  <a:pt x="6968183" y="0"/>
                </a:lnTo>
                <a:lnTo>
                  <a:pt x="6968183" y="3975982"/>
                </a:lnTo>
                <a:lnTo>
                  <a:pt x="0" y="3975982"/>
                </a:lnTo>
                <a:lnTo>
                  <a:pt x="0" y="0"/>
                </a:lnTo>
                <a:close/>
              </a:path>
            </a:pathLst>
          </a:custGeom>
          <a:blipFill>
            <a:blip r:embed="rId2"/>
            <a:stretch>
              <a:fillRect l="-4037" t="-2517" r="0" b="-14506"/>
            </a:stretch>
          </a:blipFill>
        </p:spPr>
      </p:sp>
      <p:sp>
        <p:nvSpPr>
          <p:cNvPr name="AutoShape 4" id="4"/>
          <p:cNvSpPr/>
          <p:nvPr/>
        </p:nvSpPr>
        <p:spPr>
          <a:xfrm>
            <a:off x="4722084" y="4107038"/>
            <a:ext cx="8843832" cy="0"/>
          </a:xfrm>
          <a:prstGeom prst="line">
            <a:avLst/>
          </a:prstGeom>
          <a:ln cap="flat" w="38100">
            <a:solidFill>
              <a:srgbClr val="0097B2"/>
            </a:solidFill>
            <a:prstDash val="solid"/>
            <a:headEnd type="oval" len="lg" w="lg"/>
            <a:tailEnd type="oval" len="lg" w="lg"/>
          </a:ln>
        </p:spPr>
      </p:sp>
      <p:sp>
        <p:nvSpPr>
          <p:cNvPr name="TextBox 5" id="5"/>
          <p:cNvSpPr txBox="true"/>
          <p:nvPr/>
        </p:nvSpPr>
        <p:spPr>
          <a:xfrm rot="0">
            <a:off x="4572000" y="4245991"/>
            <a:ext cx="9144000" cy="1341423"/>
          </a:xfrm>
          <a:prstGeom prst="rect">
            <a:avLst/>
          </a:prstGeom>
        </p:spPr>
        <p:txBody>
          <a:bodyPr anchor="t" rtlCol="false" tIns="0" lIns="0" bIns="0" rIns="0">
            <a:spAutoFit/>
          </a:bodyPr>
          <a:lstStyle/>
          <a:p>
            <a:pPr algn="ctr">
              <a:lnSpc>
                <a:spcPts val="7088"/>
              </a:lnSpc>
            </a:pPr>
            <a:r>
              <a:rPr lang="en-US" sz="5063">
                <a:solidFill>
                  <a:srgbClr val="0097B2"/>
                </a:solidFill>
                <a:latin typeface="League Spartan"/>
                <a:ea typeface="League Spartan"/>
                <a:cs typeface="League Spartan"/>
                <a:sym typeface="League Spartan"/>
              </a:rPr>
              <a:t>ECHO </a:t>
            </a:r>
          </a:p>
          <a:p>
            <a:pPr algn="ctr">
              <a:lnSpc>
                <a:spcPts val="3588"/>
              </a:lnSpc>
              <a:spcBef>
                <a:spcPct val="0"/>
              </a:spcBef>
            </a:pPr>
            <a:r>
              <a:rPr lang="en-US" sz="2563">
                <a:solidFill>
                  <a:srgbClr val="0097B2"/>
                </a:solidFill>
                <a:latin typeface="League Spartan"/>
                <a:ea typeface="League Spartan"/>
                <a:cs typeface="League Spartan"/>
                <a:sym typeface="League Spartan"/>
              </a:rPr>
              <a:t>AI-Powered Personal Memory Assistant </a:t>
            </a:r>
          </a:p>
        </p:txBody>
      </p:sp>
      <p:sp>
        <p:nvSpPr>
          <p:cNvPr name="AutoShape 6" id="6"/>
          <p:cNvSpPr/>
          <p:nvPr/>
        </p:nvSpPr>
        <p:spPr>
          <a:xfrm>
            <a:off x="4722084" y="5821618"/>
            <a:ext cx="8843832" cy="0"/>
          </a:xfrm>
          <a:prstGeom prst="line">
            <a:avLst/>
          </a:prstGeom>
          <a:ln cap="flat" w="38100">
            <a:solidFill>
              <a:srgbClr val="0097B2"/>
            </a:solidFill>
            <a:prstDash val="solid"/>
            <a:headEnd type="oval" len="lg" w="lg"/>
            <a:tailEnd type="oval" len="lg" w="lg"/>
          </a:ln>
        </p:spPr>
      </p:sp>
      <p:sp>
        <p:nvSpPr>
          <p:cNvPr name="Freeform 7" id="7"/>
          <p:cNvSpPr/>
          <p:nvPr/>
        </p:nvSpPr>
        <p:spPr>
          <a:xfrm flipH="false" flipV="false" rot="0">
            <a:off x="205343" y="135653"/>
            <a:ext cx="2597463" cy="1112071"/>
          </a:xfrm>
          <a:custGeom>
            <a:avLst/>
            <a:gdLst/>
            <a:ahLst/>
            <a:cxnLst/>
            <a:rect r="r" b="b" t="t" l="l"/>
            <a:pathLst>
              <a:path h="1112071" w="2597463">
                <a:moveTo>
                  <a:pt x="0" y="0"/>
                </a:moveTo>
                <a:lnTo>
                  <a:pt x="2597463" y="0"/>
                </a:lnTo>
                <a:lnTo>
                  <a:pt x="2597463" y="1112071"/>
                </a:lnTo>
                <a:lnTo>
                  <a:pt x="0" y="1112071"/>
                </a:lnTo>
                <a:lnTo>
                  <a:pt x="0" y="0"/>
                </a:lnTo>
                <a:close/>
              </a:path>
            </a:pathLst>
          </a:custGeom>
          <a:blipFill>
            <a:blip r:embed="rId3"/>
            <a:stretch>
              <a:fillRect l="0" t="-8392" r="0" b="-8392"/>
            </a:stretch>
          </a:blipFill>
        </p:spPr>
      </p:sp>
      <p:sp>
        <p:nvSpPr>
          <p:cNvPr name="TextBox 8" id="8"/>
          <p:cNvSpPr txBox="true"/>
          <p:nvPr/>
        </p:nvSpPr>
        <p:spPr>
          <a:xfrm rot="0">
            <a:off x="6197514" y="6288343"/>
            <a:ext cx="7368402" cy="1755775"/>
          </a:xfrm>
          <a:prstGeom prst="rect">
            <a:avLst/>
          </a:prstGeom>
        </p:spPr>
        <p:txBody>
          <a:bodyPr anchor="t" rtlCol="false" tIns="0" lIns="0" bIns="0" rIns="0">
            <a:spAutoFit/>
          </a:bodyPr>
          <a:lstStyle/>
          <a:p>
            <a:pPr algn="l">
              <a:lnSpc>
                <a:spcPts val="2660"/>
              </a:lnSpc>
            </a:pPr>
            <a:r>
              <a:rPr lang="en-US" sz="3800">
                <a:solidFill>
                  <a:srgbClr val="092A45"/>
                </a:solidFill>
                <a:latin typeface="Times New Roman"/>
                <a:ea typeface="Times New Roman"/>
                <a:cs typeface="Times New Roman"/>
                <a:sym typeface="Times New Roman"/>
              </a:rPr>
              <a:t>Presented by : Shreenidhi T</a:t>
            </a:r>
          </a:p>
          <a:p>
            <a:pPr algn="l">
              <a:lnSpc>
                <a:spcPts val="2660"/>
              </a:lnSpc>
            </a:pPr>
          </a:p>
          <a:p>
            <a:pPr algn="l">
              <a:lnSpc>
                <a:spcPts val="2660"/>
              </a:lnSpc>
            </a:pPr>
            <a:r>
              <a:rPr lang="en-US" sz="3800">
                <a:solidFill>
                  <a:srgbClr val="092A45"/>
                </a:solidFill>
                <a:latin typeface="Times New Roman"/>
                <a:ea typeface="Times New Roman"/>
                <a:cs typeface="Times New Roman"/>
                <a:sym typeface="Times New Roman"/>
              </a:rPr>
              <a:t>Register Number : 240701503</a:t>
            </a:r>
          </a:p>
          <a:p>
            <a:pPr algn="l">
              <a:lnSpc>
                <a:spcPts val="2660"/>
              </a:lnSpc>
            </a:pPr>
          </a:p>
          <a:p>
            <a:pPr algn="l">
              <a:lnSpc>
                <a:spcPts val="2660"/>
              </a:lnSpc>
            </a:pPr>
            <a:r>
              <a:rPr lang="en-US" sz="3800">
                <a:solidFill>
                  <a:srgbClr val="092A45"/>
                </a:solidFill>
                <a:latin typeface="Times New Roman"/>
                <a:ea typeface="Times New Roman"/>
                <a:cs typeface="Times New Roman"/>
                <a:sym typeface="Times New Roman"/>
              </a:rPr>
              <a:t>Domain : Artificial Intelligence</a:t>
            </a:r>
          </a:p>
        </p:txBody>
      </p:sp>
      <p:sp>
        <p:nvSpPr>
          <p:cNvPr name="TextBox 9" id="9"/>
          <p:cNvSpPr txBox="true"/>
          <p:nvPr/>
        </p:nvSpPr>
        <p:spPr>
          <a:xfrm rot="0">
            <a:off x="5829052" y="3267630"/>
            <a:ext cx="6629896" cy="525082"/>
          </a:xfrm>
          <a:prstGeom prst="rect">
            <a:avLst/>
          </a:prstGeom>
        </p:spPr>
        <p:txBody>
          <a:bodyPr anchor="t" rtlCol="false" tIns="0" lIns="0" bIns="0" rIns="0">
            <a:spAutoFit/>
          </a:bodyPr>
          <a:lstStyle/>
          <a:p>
            <a:pPr algn="ctr">
              <a:lnSpc>
                <a:spcPts val="3797"/>
              </a:lnSpc>
              <a:spcBef>
                <a:spcPct val="0"/>
              </a:spcBef>
            </a:pPr>
            <a:r>
              <a:rPr lang="en-US" sz="3797">
                <a:solidFill>
                  <a:srgbClr val="092A45"/>
                </a:solidFill>
                <a:latin typeface="Times New Roman"/>
                <a:ea typeface="Times New Roman"/>
                <a:cs typeface="Times New Roman"/>
                <a:sym typeface="Times New Roman"/>
              </a:rPr>
              <a:t>Rajalakshmi Engineering College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272011" y="-127412"/>
            <a:ext cx="6573468" cy="4791178"/>
          </a:xfrm>
          <a:custGeom>
            <a:avLst/>
            <a:gdLst/>
            <a:ahLst/>
            <a:cxnLst/>
            <a:rect r="r" b="b" t="t" l="l"/>
            <a:pathLst>
              <a:path h="4791178" w="6573468">
                <a:moveTo>
                  <a:pt x="0" y="0"/>
                </a:moveTo>
                <a:lnTo>
                  <a:pt x="6573468" y="0"/>
                </a:lnTo>
                <a:lnTo>
                  <a:pt x="6573468" y="4791178"/>
                </a:lnTo>
                <a:lnTo>
                  <a:pt x="0" y="4791178"/>
                </a:lnTo>
                <a:lnTo>
                  <a:pt x="0" y="0"/>
                </a:lnTo>
                <a:close/>
              </a:path>
            </a:pathLst>
          </a:custGeom>
          <a:blipFill>
            <a:blip r:embed="rId2"/>
            <a:stretch>
              <a:fillRect l="-6781" t="0" r="-6781" b="0"/>
            </a:stretch>
          </a:blipFill>
        </p:spPr>
      </p:sp>
      <p:sp>
        <p:nvSpPr>
          <p:cNvPr name="Freeform 3" id="3"/>
          <p:cNvSpPr/>
          <p:nvPr/>
        </p:nvSpPr>
        <p:spPr>
          <a:xfrm flipH="false" flipV="false" rot="-5400000">
            <a:off x="12851717" y="5473926"/>
            <a:ext cx="7352766" cy="4428932"/>
          </a:xfrm>
          <a:custGeom>
            <a:avLst/>
            <a:gdLst/>
            <a:ahLst/>
            <a:cxnLst/>
            <a:rect r="r" b="b" t="t" l="l"/>
            <a:pathLst>
              <a:path h="4428932" w="7352766">
                <a:moveTo>
                  <a:pt x="0" y="0"/>
                </a:moveTo>
                <a:lnTo>
                  <a:pt x="7352766" y="0"/>
                </a:lnTo>
                <a:lnTo>
                  <a:pt x="7352766" y="4428932"/>
                </a:lnTo>
                <a:lnTo>
                  <a:pt x="0" y="4428932"/>
                </a:lnTo>
                <a:lnTo>
                  <a:pt x="0" y="0"/>
                </a:lnTo>
                <a:close/>
              </a:path>
            </a:pathLst>
          </a:custGeom>
          <a:blipFill>
            <a:blip r:embed="rId2"/>
            <a:stretch>
              <a:fillRect l="-6350" t="-6659" r="0" b="-6659"/>
            </a:stretch>
          </a:blipFill>
        </p:spPr>
      </p:sp>
      <p:sp>
        <p:nvSpPr>
          <p:cNvPr name="Freeform 4" id="4"/>
          <p:cNvSpPr/>
          <p:nvPr/>
        </p:nvSpPr>
        <p:spPr>
          <a:xfrm flipH="false" flipV="false" rot="0">
            <a:off x="15834519" y="313158"/>
            <a:ext cx="2297113" cy="983480"/>
          </a:xfrm>
          <a:custGeom>
            <a:avLst/>
            <a:gdLst/>
            <a:ahLst/>
            <a:cxnLst/>
            <a:rect r="r" b="b" t="t" l="l"/>
            <a:pathLst>
              <a:path h="983480" w="2297113">
                <a:moveTo>
                  <a:pt x="0" y="0"/>
                </a:moveTo>
                <a:lnTo>
                  <a:pt x="2297113" y="0"/>
                </a:lnTo>
                <a:lnTo>
                  <a:pt x="2297113" y="983480"/>
                </a:lnTo>
                <a:lnTo>
                  <a:pt x="0" y="983480"/>
                </a:lnTo>
                <a:lnTo>
                  <a:pt x="0" y="0"/>
                </a:lnTo>
                <a:close/>
              </a:path>
            </a:pathLst>
          </a:custGeom>
          <a:blipFill>
            <a:blip r:embed="rId3"/>
            <a:stretch>
              <a:fillRect l="0" t="-8392" r="0" b="-8392"/>
            </a:stretch>
          </a:blipFill>
        </p:spPr>
      </p:sp>
      <p:grpSp>
        <p:nvGrpSpPr>
          <p:cNvPr name="Group 5" id="5"/>
          <p:cNvGrpSpPr/>
          <p:nvPr/>
        </p:nvGrpSpPr>
        <p:grpSpPr>
          <a:xfrm rot="0">
            <a:off x="3973079" y="1685369"/>
            <a:ext cx="10402700" cy="2326641"/>
            <a:chOff x="0" y="0"/>
            <a:chExt cx="13870266" cy="3102187"/>
          </a:xfrm>
        </p:grpSpPr>
        <p:sp>
          <p:nvSpPr>
            <p:cNvPr name="TextBox 6" id="6"/>
            <p:cNvSpPr txBox="true"/>
            <p:nvPr/>
          </p:nvSpPr>
          <p:spPr>
            <a:xfrm rot="0">
              <a:off x="0" y="371475"/>
              <a:ext cx="13870266" cy="1245660"/>
            </a:xfrm>
            <a:prstGeom prst="rect">
              <a:avLst/>
            </a:prstGeom>
          </p:spPr>
          <p:txBody>
            <a:bodyPr anchor="t" rtlCol="false" tIns="0" lIns="0" bIns="0" rIns="0">
              <a:spAutoFit/>
            </a:bodyPr>
            <a:lstStyle/>
            <a:p>
              <a:pPr algn="ctr">
                <a:lnSpc>
                  <a:spcPts val="5600"/>
                </a:lnSpc>
              </a:pPr>
              <a:r>
                <a:rPr lang="en-US" sz="8000">
                  <a:solidFill>
                    <a:srgbClr val="0097B2"/>
                  </a:solidFill>
                  <a:latin typeface="League Spartan"/>
                  <a:ea typeface="League Spartan"/>
                  <a:cs typeface="League Spartan"/>
                  <a:sym typeface="League Spartan"/>
                </a:rPr>
                <a:t>Problem statement</a:t>
              </a:r>
            </a:p>
          </p:txBody>
        </p:sp>
        <p:sp>
          <p:nvSpPr>
            <p:cNvPr name="TextBox 7" id="7"/>
            <p:cNvSpPr txBox="true"/>
            <p:nvPr/>
          </p:nvSpPr>
          <p:spPr>
            <a:xfrm rot="0">
              <a:off x="223489" y="1550460"/>
              <a:ext cx="13342144" cy="1551727"/>
            </a:xfrm>
            <a:prstGeom prst="rect">
              <a:avLst/>
            </a:prstGeom>
          </p:spPr>
          <p:txBody>
            <a:bodyPr anchor="t" rtlCol="false" tIns="0" lIns="0" bIns="0" rIns="0">
              <a:spAutoFit/>
            </a:bodyPr>
            <a:lstStyle/>
            <a:p>
              <a:pPr algn="ctr">
                <a:lnSpc>
                  <a:spcPts val="4760"/>
                </a:lnSpc>
              </a:pPr>
              <a:r>
                <a:rPr lang="en-US" sz="3400" b="true">
                  <a:solidFill>
                    <a:srgbClr val="0097B2"/>
                  </a:solidFill>
                  <a:latin typeface="Canva Sans Bold"/>
                  <a:ea typeface="Canva Sans Bold"/>
                  <a:cs typeface="Canva Sans Bold"/>
                  <a:sym typeface="Canva Sans Bold"/>
                </a:rPr>
                <a:t>ECHO - AI-Powered Personal Memory Assistant</a:t>
              </a:r>
              <a:r>
                <a:rPr lang="en-US" sz="3400" b="true">
                  <a:solidFill>
                    <a:srgbClr val="0097B2"/>
                  </a:solidFill>
                  <a:latin typeface="Canva Sans Bold"/>
                  <a:ea typeface="Canva Sans Bold"/>
                  <a:cs typeface="Canva Sans Bold"/>
                  <a:sym typeface="Canva Sans Bold"/>
                </a:rPr>
                <a:t> </a:t>
              </a:r>
            </a:p>
            <a:p>
              <a:pPr algn="ctr">
                <a:lnSpc>
                  <a:spcPts val="4760"/>
                </a:lnSpc>
              </a:pPr>
            </a:p>
          </p:txBody>
        </p:sp>
      </p:grpSp>
      <p:sp>
        <p:nvSpPr>
          <p:cNvPr name="TextBox 8" id="8"/>
          <p:cNvSpPr txBox="true"/>
          <p:nvPr/>
        </p:nvSpPr>
        <p:spPr>
          <a:xfrm rot="0">
            <a:off x="1512740" y="4723844"/>
            <a:ext cx="15323378" cy="2814715"/>
          </a:xfrm>
          <a:prstGeom prst="rect">
            <a:avLst/>
          </a:prstGeom>
        </p:spPr>
        <p:txBody>
          <a:bodyPr anchor="t" rtlCol="false" tIns="0" lIns="0" bIns="0" rIns="0">
            <a:spAutoFit/>
          </a:bodyPr>
          <a:lstStyle/>
          <a:p>
            <a:pPr algn="l">
              <a:lnSpc>
                <a:spcPts val="4458"/>
              </a:lnSpc>
            </a:pPr>
            <a:r>
              <a:rPr lang="en-US" sz="3184">
                <a:solidFill>
                  <a:srgbClr val="000000"/>
                </a:solidFill>
                <a:latin typeface="Times New Roman"/>
                <a:ea typeface="Times New Roman"/>
                <a:cs typeface="Times New Roman"/>
                <a:sym typeface="Times New Roman"/>
              </a:rPr>
              <a:t>ECHO addresses the problem of people forgetting important information stored in medicine labels, receipts, warranty cards, and other documents. Important dates and expiry details may be overlooked, leading to inconvenience or financial loss. Therefore, a smart system is needed to automatically extract, organize, and store this information while providing timely reminders to help users manage their important details efficiently.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272011" y="-127412"/>
            <a:ext cx="6573468" cy="4791178"/>
          </a:xfrm>
          <a:custGeom>
            <a:avLst/>
            <a:gdLst/>
            <a:ahLst/>
            <a:cxnLst/>
            <a:rect r="r" b="b" t="t" l="l"/>
            <a:pathLst>
              <a:path h="4791178" w="6573468">
                <a:moveTo>
                  <a:pt x="0" y="0"/>
                </a:moveTo>
                <a:lnTo>
                  <a:pt x="6573468" y="0"/>
                </a:lnTo>
                <a:lnTo>
                  <a:pt x="6573468" y="4791178"/>
                </a:lnTo>
                <a:lnTo>
                  <a:pt x="0" y="4791178"/>
                </a:lnTo>
                <a:lnTo>
                  <a:pt x="0" y="0"/>
                </a:lnTo>
                <a:close/>
              </a:path>
            </a:pathLst>
          </a:custGeom>
          <a:blipFill>
            <a:blip r:embed="rId2"/>
            <a:stretch>
              <a:fillRect l="-6781" t="0" r="-6781" b="0"/>
            </a:stretch>
          </a:blipFill>
        </p:spPr>
      </p:sp>
      <p:sp>
        <p:nvSpPr>
          <p:cNvPr name="TextBox 3" id="3"/>
          <p:cNvSpPr txBox="true"/>
          <p:nvPr/>
        </p:nvSpPr>
        <p:spPr>
          <a:xfrm rot="0">
            <a:off x="3973079" y="2033226"/>
            <a:ext cx="10402700" cy="841377"/>
          </a:xfrm>
          <a:prstGeom prst="rect">
            <a:avLst/>
          </a:prstGeom>
        </p:spPr>
        <p:txBody>
          <a:bodyPr anchor="t" rtlCol="false" tIns="0" lIns="0" bIns="0" rIns="0">
            <a:spAutoFit/>
          </a:bodyPr>
          <a:lstStyle/>
          <a:p>
            <a:pPr algn="ctr">
              <a:lnSpc>
                <a:spcPts val="5600"/>
              </a:lnSpc>
            </a:pPr>
            <a:r>
              <a:rPr lang="en-US" sz="8000">
                <a:solidFill>
                  <a:srgbClr val="0097B2"/>
                </a:solidFill>
                <a:latin typeface="League Spartan"/>
                <a:ea typeface="League Spartan"/>
                <a:cs typeface="League Spartan"/>
                <a:sym typeface="League Spartan"/>
              </a:rPr>
              <a:t>Proposed Solution</a:t>
            </a:r>
          </a:p>
        </p:txBody>
      </p:sp>
      <p:sp>
        <p:nvSpPr>
          <p:cNvPr name="Freeform 4" id="4"/>
          <p:cNvSpPr/>
          <p:nvPr/>
        </p:nvSpPr>
        <p:spPr>
          <a:xfrm flipH="false" flipV="false" rot="-5400000">
            <a:off x="12851717" y="5473926"/>
            <a:ext cx="7352766" cy="4428932"/>
          </a:xfrm>
          <a:custGeom>
            <a:avLst/>
            <a:gdLst/>
            <a:ahLst/>
            <a:cxnLst/>
            <a:rect r="r" b="b" t="t" l="l"/>
            <a:pathLst>
              <a:path h="4428932" w="7352766">
                <a:moveTo>
                  <a:pt x="0" y="0"/>
                </a:moveTo>
                <a:lnTo>
                  <a:pt x="7352766" y="0"/>
                </a:lnTo>
                <a:lnTo>
                  <a:pt x="7352766" y="4428932"/>
                </a:lnTo>
                <a:lnTo>
                  <a:pt x="0" y="4428932"/>
                </a:lnTo>
                <a:lnTo>
                  <a:pt x="0" y="0"/>
                </a:lnTo>
                <a:close/>
              </a:path>
            </a:pathLst>
          </a:custGeom>
          <a:blipFill>
            <a:blip r:embed="rId2"/>
            <a:stretch>
              <a:fillRect l="-6350" t="-6659" r="0" b="-6659"/>
            </a:stretch>
          </a:blipFill>
        </p:spPr>
      </p:sp>
      <p:sp>
        <p:nvSpPr>
          <p:cNvPr name="Freeform 5" id="5"/>
          <p:cNvSpPr/>
          <p:nvPr/>
        </p:nvSpPr>
        <p:spPr>
          <a:xfrm flipH="false" flipV="false" rot="0">
            <a:off x="15834519" y="313158"/>
            <a:ext cx="2297113" cy="983480"/>
          </a:xfrm>
          <a:custGeom>
            <a:avLst/>
            <a:gdLst/>
            <a:ahLst/>
            <a:cxnLst/>
            <a:rect r="r" b="b" t="t" l="l"/>
            <a:pathLst>
              <a:path h="983480" w="2297113">
                <a:moveTo>
                  <a:pt x="0" y="0"/>
                </a:moveTo>
                <a:lnTo>
                  <a:pt x="2297113" y="0"/>
                </a:lnTo>
                <a:lnTo>
                  <a:pt x="2297113" y="983480"/>
                </a:lnTo>
                <a:lnTo>
                  <a:pt x="0" y="983480"/>
                </a:lnTo>
                <a:lnTo>
                  <a:pt x="0" y="0"/>
                </a:lnTo>
                <a:close/>
              </a:path>
            </a:pathLst>
          </a:custGeom>
          <a:blipFill>
            <a:blip r:embed="rId3"/>
            <a:stretch>
              <a:fillRect l="0" t="-8392" r="0" b="-8392"/>
            </a:stretch>
          </a:blipFill>
        </p:spPr>
      </p:sp>
      <p:sp>
        <p:nvSpPr>
          <p:cNvPr name="TextBox 6" id="6"/>
          <p:cNvSpPr txBox="true"/>
          <p:nvPr/>
        </p:nvSpPr>
        <p:spPr>
          <a:xfrm rot="0">
            <a:off x="1512740" y="4152373"/>
            <a:ext cx="15323378" cy="3938665"/>
          </a:xfrm>
          <a:prstGeom prst="rect">
            <a:avLst/>
          </a:prstGeom>
        </p:spPr>
        <p:txBody>
          <a:bodyPr anchor="t" rtlCol="false" tIns="0" lIns="0" bIns="0" rIns="0">
            <a:spAutoFit/>
          </a:bodyPr>
          <a:lstStyle/>
          <a:p>
            <a:pPr algn="l" marL="687522" indent="-343761" lvl="1">
              <a:lnSpc>
                <a:spcPts val="4458"/>
              </a:lnSpc>
              <a:buFont typeface="Arial"/>
              <a:buChar char="•"/>
            </a:pPr>
            <a:r>
              <a:rPr lang="en-US" sz="3184">
                <a:solidFill>
                  <a:srgbClr val="000000"/>
                </a:solidFill>
                <a:latin typeface="Times New Roman"/>
                <a:ea typeface="Times New Roman"/>
                <a:cs typeface="Times New Roman"/>
                <a:sym typeface="Times New Roman"/>
              </a:rPr>
              <a:t>ECHO is an AI-powered personal memory assistant that extracts text from images using OCR.</a:t>
            </a:r>
          </a:p>
          <a:p>
            <a:pPr algn="l" marL="687522" indent="-343761" lvl="1">
              <a:lnSpc>
                <a:spcPts val="4458"/>
              </a:lnSpc>
              <a:buFont typeface="Arial"/>
              <a:buChar char="•"/>
            </a:pPr>
            <a:r>
              <a:rPr lang="en-US" sz="3184">
                <a:solidFill>
                  <a:srgbClr val="000000"/>
                </a:solidFill>
                <a:latin typeface="Times New Roman"/>
                <a:ea typeface="Times New Roman"/>
                <a:cs typeface="Times New Roman"/>
                <a:sym typeface="Times New Roman"/>
              </a:rPr>
              <a:t>It uses Machine Learning to classify the extracted information into categories.</a:t>
            </a:r>
          </a:p>
          <a:p>
            <a:pPr algn="l" marL="687522" indent="-343761" lvl="1">
              <a:lnSpc>
                <a:spcPts val="4458"/>
              </a:lnSpc>
              <a:buFont typeface="Arial"/>
              <a:buChar char="•"/>
            </a:pPr>
            <a:r>
              <a:rPr lang="en-US" sz="3184">
                <a:solidFill>
                  <a:srgbClr val="000000"/>
                </a:solidFill>
                <a:latin typeface="Times New Roman"/>
                <a:ea typeface="Times New Roman"/>
                <a:cs typeface="Times New Roman"/>
                <a:sym typeface="Times New Roman"/>
              </a:rPr>
              <a:t>It stores the information digitally for easy access.</a:t>
            </a:r>
          </a:p>
          <a:p>
            <a:pPr algn="l" marL="687522" indent="-343761" lvl="1">
              <a:lnSpc>
                <a:spcPts val="4458"/>
              </a:lnSpc>
              <a:buFont typeface="Arial"/>
              <a:buChar char="•"/>
            </a:pPr>
            <a:r>
              <a:rPr lang="en-US" sz="3184">
                <a:solidFill>
                  <a:srgbClr val="000000"/>
                </a:solidFill>
                <a:latin typeface="Times New Roman"/>
                <a:ea typeface="Times New Roman"/>
                <a:cs typeface="Times New Roman"/>
                <a:sym typeface="Times New Roman"/>
              </a:rPr>
              <a:t>A rule-based reminder system identifies important dates and helps users keep track of them.</a:t>
            </a:r>
          </a:p>
          <a:p>
            <a:pPr algn="l">
              <a:lnSpc>
                <a:spcPts val="4458"/>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272011" y="-127412"/>
            <a:ext cx="6573468" cy="4791178"/>
          </a:xfrm>
          <a:custGeom>
            <a:avLst/>
            <a:gdLst/>
            <a:ahLst/>
            <a:cxnLst/>
            <a:rect r="r" b="b" t="t" l="l"/>
            <a:pathLst>
              <a:path h="4791178" w="6573468">
                <a:moveTo>
                  <a:pt x="0" y="0"/>
                </a:moveTo>
                <a:lnTo>
                  <a:pt x="6573468" y="0"/>
                </a:lnTo>
                <a:lnTo>
                  <a:pt x="6573468" y="4791178"/>
                </a:lnTo>
                <a:lnTo>
                  <a:pt x="0" y="4791178"/>
                </a:lnTo>
                <a:lnTo>
                  <a:pt x="0" y="0"/>
                </a:lnTo>
                <a:close/>
              </a:path>
            </a:pathLst>
          </a:custGeom>
          <a:blipFill>
            <a:blip r:embed="rId2"/>
            <a:stretch>
              <a:fillRect l="-6781" t="0" r="-6781" b="0"/>
            </a:stretch>
          </a:blipFill>
        </p:spPr>
      </p:sp>
      <p:sp>
        <p:nvSpPr>
          <p:cNvPr name="Freeform 3" id="3"/>
          <p:cNvSpPr/>
          <p:nvPr/>
        </p:nvSpPr>
        <p:spPr>
          <a:xfrm flipH="false" flipV="false" rot="-5400000">
            <a:off x="12851717" y="5473926"/>
            <a:ext cx="7352766" cy="4428932"/>
          </a:xfrm>
          <a:custGeom>
            <a:avLst/>
            <a:gdLst/>
            <a:ahLst/>
            <a:cxnLst/>
            <a:rect r="r" b="b" t="t" l="l"/>
            <a:pathLst>
              <a:path h="4428932" w="7352766">
                <a:moveTo>
                  <a:pt x="0" y="0"/>
                </a:moveTo>
                <a:lnTo>
                  <a:pt x="7352766" y="0"/>
                </a:lnTo>
                <a:lnTo>
                  <a:pt x="7352766" y="4428932"/>
                </a:lnTo>
                <a:lnTo>
                  <a:pt x="0" y="4428932"/>
                </a:lnTo>
                <a:lnTo>
                  <a:pt x="0" y="0"/>
                </a:lnTo>
                <a:close/>
              </a:path>
            </a:pathLst>
          </a:custGeom>
          <a:blipFill>
            <a:blip r:embed="rId2"/>
            <a:stretch>
              <a:fillRect l="-6350" t="-6659" r="0" b="-6659"/>
            </a:stretch>
          </a:blipFill>
        </p:spPr>
      </p:sp>
      <p:sp>
        <p:nvSpPr>
          <p:cNvPr name="Freeform 4" id="4"/>
          <p:cNvSpPr/>
          <p:nvPr/>
        </p:nvSpPr>
        <p:spPr>
          <a:xfrm flipH="false" flipV="false" rot="0">
            <a:off x="15834519" y="313158"/>
            <a:ext cx="2297113" cy="983480"/>
          </a:xfrm>
          <a:custGeom>
            <a:avLst/>
            <a:gdLst/>
            <a:ahLst/>
            <a:cxnLst/>
            <a:rect r="r" b="b" t="t" l="l"/>
            <a:pathLst>
              <a:path h="983480" w="2297113">
                <a:moveTo>
                  <a:pt x="0" y="0"/>
                </a:moveTo>
                <a:lnTo>
                  <a:pt x="2297113" y="0"/>
                </a:lnTo>
                <a:lnTo>
                  <a:pt x="2297113" y="983480"/>
                </a:lnTo>
                <a:lnTo>
                  <a:pt x="0" y="983480"/>
                </a:lnTo>
                <a:lnTo>
                  <a:pt x="0" y="0"/>
                </a:lnTo>
                <a:close/>
              </a:path>
            </a:pathLst>
          </a:custGeom>
          <a:blipFill>
            <a:blip r:embed="rId3"/>
            <a:stretch>
              <a:fillRect l="0" t="-8392" r="0" b="-8392"/>
            </a:stretch>
          </a:blipFill>
        </p:spPr>
      </p:sp>
      <p:sp>
        <p:nvSpPr>
          <p:cNvPr name="Freeform 5" id="5"/>
          <p:cNvSpPr/>
          <p:nvPr/>
        </p:nvSpPr>
        <p:spPr>
          <a:xfrm flipH="false" flipV="false" rot="0">
            <a:off x="4529332" y="3462098"/>
            <a:ext cx="9229337" cy="5796202"/>
          </a:xfrm>
          <a:custGeom>
            <a:avLst/>
            <a:gdLst/>
            <a:ahLst/>
            <a:cxnLst/>
            <a:rect r="r" b="b" t="t" l="l"/>
            <a:pathLst>
              <a:path h="5796202" w="9229337">
                <a:moveTo>
                  <a:pt x="0" y="0"/>
                </a:moveTo>
                <a:lnTo>
                  <a:pt x="9229336" y="0"/>
                </a:lnTo>
                <a:lnTo>
                  <a:pt x="9229336" y="5796202"/>
                </a:lnTo>
                <a:lnTo>
                  <a:pt x="0" y="5796202"/>
                </a:lnTo>
                <a:lnTo>
                  <a:pt x="0" y="0"/>
                </a:lnTo>
                <a:close/>
              </a:path>
            </a:pathLst>
          </a:custGeom>
          <a:blipFill>
            <a:blip r:embed="rId4"/>
            <a:stretch>
              <a:fillRect l="0" t="0" r="0" b="0"/>
            </a:stretch>
          </a:blipFill>
        </p:spPr>
      </p:sp>
      <p:sp>
        <p:nvSpPr>
          <p:cNvPr name="TextBox 6" id="6"/>
          <p:cNvSpPr txBox="true"/>
          <p:nvPr/>
        </p:nvSpPr>
        <p:spPr>
          <a:xfrm rot="0">
            <a:off x="3973079" y="2033226"/>
            <a:ext cx="10402700" cy="841377"/>
          </a:xfrm>
          <a:prstGeom prst="rect">
            <a:avLst/>
          </a:prstGeom>
        </p:spPr>
        <p:txBody>
          <a:bodyPr anchor="t" rtlCol="false" tIns="0" lIns="0" bIns="0" rIns="0">
            <a:spAutoFit/>
          </a:bodyPr>
          <a:lstStyle/>
          <a:p>
            <a:pPr algn="ctr">
              <a:lnSpc>
                <a:spcPts val="5600"/>
              </a:lnSpc>
            </a:pPr>
            <a:r>
              <a:rPr lang="en-US" sz="8000">
                <a:solidFill>
                  <a:srgbClr val="0097B2"/>
                </a:solidFill>
                <a:latin typeface="League Spartan"/>
                <a:ea typeface="League Spartan"/>
                <a:cs typeface="League Spartan"/>
                <a:sym typeface="League Spartan"/>
              </a:rPr>
              <a:t> Technologies Used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272011" y="-127412"/>
            <a:ext cx="6573468" cy="4791178"/>
          </a:xfrm>
          <a:custGeom>
            <a:avLst/>
            <a:gdLst/>
            <a:ahLst/>
            <a:cxnLst/>
            <a:rect r="r" b="b" t="t" l="l"/>
            <a:pathLst>
              <a:path h="4791178" w="6573468">
                <a:moveTo>
                  <a:pt x="0" y="0"/>
                </a:moveTo>
                <a:lnTo>
                  <a:pt x="6573468" y="0"/>
                </a:lnTo>
                <a:lnTo>
                  <a:pt x="6573468" y="4791178"/>
                </a:lnTo>
                <a:lnTo>
                  <a:pt x="0" y="4791178"/>
                </a:lnTo>
                <a:lnTo>
                  <a:pt x="0" y="0"/>
                </a:lnTo>
                <a:close/>
              </a:path>
            </a:pathLst>
          </a:custGeom>
          <a:blipFill>
            <a:blip r:embed="rId2"/>
            <a:stretch>
              <a:fillRect l="-6781" t="0" r="-6781" b="0"/>
            </a:stretch>
          </a:blipFill>
        </p:spPr>
      </p:sp>
      <p:sp>
        <p:nvSpPr>
          <p:cNvPr name="Freeform 3" id="3"/>
          <p:cNvSpPr/>
          <p:nvPr/>
        </p:nvSpPr>
        <p:spPr>
          <a:xfrm flipH="false" flipV="false" rot="0">
            <a:off x="15834519" y="313158"/>
            <a:ext cx="2297113" cy="983480"/>
          </a:xfrm>
          <a:custGeom>
            <a:avLst/>
            <a:gdLst/>
            <a:ahLst/>
            <a:cxnLst/>
            <a:rect r="r" b="b" t="t" l="l"/>
            <a:pathLst>
              <a:path h="983480" w="2297113">
                <a:moveTo>
                  <a:pt x="0" y="0"/>
                </a:moveTo>
                <a:lnTo>
                  <a:pt x="2297113" y="0"/>
                </a:lnTo>
                <a:lnTo>
                  <a:pt x="2297113" y="983480"/>
                </a:lnTo>
                <a:lnTo>
                  <a:pt x="0" y="983480"/>
                </a:lnTo>
                <a:lnTo>
                  <a:pt x="0" y="0"/>
                </a:lnTo>
                <a:close/>
              </a:path>
            </a:pathLst>
          </a:custGeom>
          <a:blipFill>
            <a:blip r:embed="rId3"/>
            <a:stretch>
              <a:fillRect l="0" t="-8392" r="0" b="-8392"/>
            </a:stretch>
          </a:blipFill>
        </p:spPr>
      </p:sp>
      <p:sp>
        <p:nvSpPr>
          <p:cNvPr name="Freeform 4" id="4"/>
          <p:cNvSpPr/>
          <p:nvPr/>
        </p:nvSpPr>
        <p:spPr>
          <a:xfrm flipH="false" flipV="false" rot="0">
            <a:off x="2721928" y="1503487"/>
            <a:ext cx="12844144" cy="8562762"/>
          </a:xfrm>
          <a:custGeom>
            <a:avLst/>
            <a:gdLst/>
            <a:ahLst/>
            <a:cxnLst/>
            <a:rect r="r" b="b" t="t" l="l"/>
            <a:pathLst>
              <a:path h="8562762" w="12844144">
                <a:moveTo>
                  <a:pt x="0" y="0"/>
                </a:moveTo>
                <a:lnTo>
                  <a:pt x="12844144" y="0"/>
                </a:lnTo>
                <a:lnTo>
                  <a:pt x="12844144" y="8562762"/>
                </a:lnTo>
                <a:lnTo>
                  <a:pt x="0" y="8562762"/>
                </a:lnTo>
                <a:lnTo>
                  <a:pt x="0" y="0"/>
                </a:lnTo>
                <a:close/>
              </a:path>
            </a:pathLst>
          </a:custGeom>
          <a:blipFill>
            <a:blip r:embed="rId4"/>
            <a:stretch>
              <a:fillRect l="0" t="0" r="0" b="0"/>
            </a:stretch>
          </a:blipFill>
        </p:spPr>
      </p:sp>
      <p:sp>
        <p:nvSpPr>
          <p:cNvPr name="TextBox 5" id="5"/>
          <p:cNvSpPr txBox="true"/>
          <p:nvPr/>
        </p:nvSpPr>
        <p:spPr>
          <a:xfrm rot="0">
            <a:off x="3995688" y="839912"/>
            <a:ext cx="11058357" cy="663575"/>
          </a:xfrm>
          <a:prstGeom prst="rect">
            <a:avLst/>
          </a:prstGeom>
        </p:spPr>
        <p:txBody>
          <a:bodyPr anchor="t" rtlCol="false" tIns="0" lIns="0" bIns="0" rIns="0">
            <a:spAutoFit/>
          </a:bodyPr>
          <a:lstStyle/>
          <a:p>
            <a:pPr algn="ctr">
              <a:lnSpc>
                <a:spcPts val="4479"/>
              </a:lnSpc>
            </a:pPr>
            <a:r>
              <a:rPr lang="en-US" sz="6399">
                <a:solidFill>
                  <a:srgbClr val="0097B2"/>
                </a:solidFill>
                <a:latin typeface="League Spartan"/>
                <a:ea typeface="League Spartan"/>
                <a:cs typeface="League Spartan"/>
                <a:sym typeface="League Spartan"/>
              </a:rPr>
              <a:t>System Architecture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272011" y="-127412"/>
            <a:ext cx="6573468" cy="4791178"/>
          </a:xfrm>
          <a:custGeom>
            <a:avLst/>
            <a:gdLst/>
            <a:ahLst/>
            <a:cxnLst/>
            <a:rect r="r" b="b" t="t" l="l"/>
            <a:pathLst>
              <a:path h="4791178" w="6573468">
                <a:moveTo>
                  <a:pt x="0" y="0"/>
                </a:moveTo>
                <a:lnTo>
                  <a:pt x="6573468" y="0"/>
                </a:lnTo>
                <a:lnTo>
                  <a:pt x="6573468" y="4791178"/>
                </a:lnTo>
                <a:lnTo>
                  <a:pt x="0" y="4791178"/>
                </a:lnTo>
                <a:lnTo>
                  <a:pt x="0" y="0"/>
                </a:lnTo>
                <a:close/>
              </a:path>
            </a:pathLst>
          </a:custGeom>
          <a:blipFill>
            <a:blip r:embed="rId2"/>
            <a:stretch>
              <a:fillRect l="-6781" t="0" r="-6781" b="0"/>
            </a:stretch>
          </a:blipFill>
        </p:spPr>
      </p:sp>
      <p:sp>
        <p:nvSpPr>
          <p:cNvPr name="TextBox 3" id="3"/>
          <p:cNvSpPr txBox="true"/>
          <p:nvPr/>
        </p:nvSpPr>
        <p:spPr>
          <a:xfrm rot="0">
            <a:off x="3973079" y="2033226"/>
            <a:ext cx="10402700" cy="841377"/>
          </a:xfrm>
          <a:prstGeom prst="rect">
            <a:avLst/>
          </a:prstGeom>
        </p:spPr>
        <p:txBody>
          <a:bodyPr anchor="t" rtlCol="false" tIns="0" lIns="0" bIns="0" rIns="0">
            <a:spAutoFit/>
          </a:bodyPr>
          <a:lstStyle/>
          <a:p>
            <a:pPr algn="ctr">
              <a:lnSpc>
                <a:spcPts val="5600"/>
              </a:lnSpc>
            </a:pPr>
            <a:r>
              <a:rPr lang="en-US" sz="8000">
                <a:solidFill>
                  <a:srgbClr val="0097B2"/>
                </a:solidFill>
                <a:latin typeface="League Spartan"/>
                <a:ea typeface="League Spartan"/>
                <a:cs typeface="League Spartan"/>
                <a:sym typeface="League Spartan"/>
              </a:rPr>
              <a:t>Implementation</a:t>
            </a:r>
          </a:p>
        </p:txBody>
      </p:sp>
      <p:sp>
        <p:nvSpPr>
          <p:cNvPr name="Freeform 4" id="4"/>
          <p:cNvSpPr/>
          <p:nvPr/>
        </p:nvSpPr>
        <p:spPr>
          <a:xfrm flipH="false" flipV="false" rot="-5400000">
            <a:off x="12851717" y="5473926"/>
            <a:ext cx="7352766" cy="4428932"/>
          </a:xfrm>
          <a:custGeom>
            <a:avLst/>
            <a:gdLst/>
            <a:ahLst/>
            <a:cxnLst/>
            <a:rect r="r" b="b" t="t" l="l"/>
            <a:pathLst>
              <a:path h="4428932" w="7352766">
                <a:moveTo>
                  <a:pt x="0" y="0"/>
                </a:moveTo>
                <a:lnTo>
                  <a:pt x="7352766" y="0"/>
                </a:lnTo>
                <a:lnTo>
                  <a:pt x="7352766" y="4428932"/>
                </a:lnTo>
                <a:lnTo>
                  <a:pt x="0" y="4428932"/>
                </a:lnTo>
                <a:lnTo>
                  <a:pt x="0" y="0"/>
                </a:lnTo>
                <a:close/>
              </a:path>
            </a:pathLst>
          </a:custGeom>
          <a:blipFill>
            <a:blip r:embed="rId2"/>
            <a:stretch>
              <a:fillRect l="-6350" t="-6659" r="0" b="-6659"/>
            </a:stretch>
          </a:blipFill>
        </p:spPr>
      </p:sp>
      <p:sp>
        <p:nvSpPr>
          <p:cNvPr name="Freeform 5" id="5"/>
          <p:cNvSpPr/>
          <p:nvPr/>
        </p:nvSpPr>
        <p:spPr>
          <a:xfrm flipH="false" flipV="false" rot="0">
            <a:off x="15834519" y="313158"/>
            <a:ext cx="2297113" cy="983480"/>
          </a:xfrm>
          <a:custGeom>
            <a:avLst/>
            <a:gdLst/>
            <a:ahLst/>
            <a:cxnLst/>
            <a:rect r="r" b="b" t="t" l="l"/>
            <a:pathLst>
              <a:path h="983480" w="2297113">
                <a:moveTo>
                  <a:pt x="0" y="0"/>
                </a:moveTo>
                <a:lnTo>
                  <a:pt x="2297113" y="0"/>
                </a:lnTo>
                <a:lnTo>
                  <a:pt x="2297113" y="983480"/>
                </a:lnTo>
                <a:lnTo>
                  <a:pt x="0" y="983480"/>
                </a:lnTo>
                <a:lnTo>
                  <a:pt x="0" y="0"/>
                </a:lnTo>
                <a:close/>
              </a:path>
            </a:pathLst>
          </a:custGeom>
          <a:blipFill>
            <a:blip r:embed="rId3"/>
            <a:stretch>
              <a:fillRect l="0" t="-8392" r="0" b="-8392"/>
            </a:stretch>
          </a:blipFill>
        </p:spPr>
      </p:sp>
      <p:sp>
        <p:nvSpPr>
          <p:cNvPr name="TextBox 6" id="6"/>
          <p:cNvSpPr txBox="true"/>
          <p:nvPr/>
        </p:nvSpPr>
        <p:spPr>
          <a:xfrm rot="0">
            <a:off x="1512740" y="3745413"/>
            <a:ext cx="15323378" cy="5062615"/>
          </a:xfrm>
          <a:prstGeom prst="rect">
            <a:avLst/>
          </a:prstGeom>
        </p:spPr>
        <p:txBody>
          <a:bodyPr anchor="t" rtlCol="false" tIns="0" lIns="0" bIns="0" rIns="0">
            <a:spAutoFit/>
          </a:bodyPr>
          <a:lstStyle/>
          <a:p>
            <a:pPr algn="l" marL="687522" indent="-343761" lvl="1">
              <a:lnSpc>
                <a:spcPts val="4458"/>
              </a:lnSpc>
              <a:buFont typeface="Arial"/>
              <a:buChar char="•"/>
            </a:pPr>
            <a:r>
              <a:rPr lang="en-US" sz="3184">
                <a:solidFill>
                  <a:srgbClr val="000000"/>
                </a:solidFill>
                <a:latin typeface="Times New Roman"/>
                <a:ea typeface="Times New Roman"/>
                <a:cs typeface="Times New Roman"/>
                <a:sym typeface="Times New Roman"/>
              </a:rPr>
              <a:t>Image Upload: The user uploads an image containing important information.</a:t>
            </a:r>
          </a:p>
          <a:p>
            <a:pPr algn="l" marL="687522" indent="-343761" lvl="1">
              <a:lnSpc>
                <a:spcPts val="4458"/>
              </a:lnSpc>
              <a:buFont typeface="Arial"/>
              <a:buChar char="•"/>
            </a:pPr>
            <a:r>
              <a:rPr lang="en-US" sz="3184">
                <a:solidFill>
                  <a:srgbClr val="000000"/>
                </a:solidFill>
                <a:latin typeface="Times New Roman"/>
                <a:ea typeface="Times New Roman"/>
                <a:cs typeface="Times New Roman"/>
                <a:sym typeface="Times New Roman"/>
              </a:rPr>
              <a:t>Text Extraction: OCR reads and extracts text from the uploaded image.</a:t>
            </a:r>
          </a:p>
          <a:p>
            <a:pPr algn="l" marL="687522" indent="-343761" lvl="1">
              <a:lnSpc>
                <a:spcPts val="4458"/>
              </a:lnSpc>
              <a:buFont typeface="Arial"/>
              <a:buChar char="•"/>
            </a:pPr>
            <a:r>
              <a:rPr lang="en-US" sz="3184">
                <a:solidFill>
                  <a:srgbClr val="000000"/>
                </a:solidFill>
                <a:latin typeface="Times New Roman"/>
                <a:ea typeface="Times New Roman"/>
                <a:cs typeface="Times New Roman"/>
                <a:sym typeface="Times New Roman"/>
              </a:rPr>
              <a:t>Text Classification: TF-IDF converts text into numerical features, and Logistic Regression predicts its category.</a:t>
            </a:r>
          </a:p>
          <a:p>
            <a:pPr algn="l" marL="687522" indent="-343761" lvl="1">
              <a:lnSpc>
                <a:spcPts val="4458"/>
              </a:lnSpc>
              <a:buFont typeface="Arial"/>
              <a:buChar char="•"/>
            </a:pPr>
            <a:r>
              <a:rPr lang="en-US" sz="3184">
                <a:solidFill>
                  <a:srgbClr val="000000"/>
                </a:solidFill>
                <a:latin typeface="Times New Roman"/>
                <a:ea typeface="Times New Roman"/>
                <a:cs typeface="Times New Roman"/>
                <a:sym typeface="Times New Roman"/>
              </a:rPr>
              <a:t>Data Storage: The extracted information and relevant details are stored in the SQLite database.</a:t>
            </a:r>
          </a:p>
          <a:p>
            <a:pPr algn="l" marL="687522" indent="-343761" lvl="1">
              <a:lnSpc>
                <a:spcPts val="4458"/>
              </a:lnSpc>
              <a:buFont typeface="Arial"/>
              <a:buChar char="•"/>
            </a:pPr>
            <a:r>
              <a:rPr lang="en-US" sz="3184">
                <a:solidFill>
                  <a:srgbClr val="000000"/>
                </a:solidFill>
                <a:latin typeface="Times New Roman"/>
                <a:ea typeface="Times New Roman"/>
                <a:cs typeface="Times New Roman"/>
                <a:sym typeface="Times New Roman"/>
              </a:rPr>
              <a:t>Reminder Generation: Rule-based logic checks relevant dates and displays reminders through the application.</a:t>
            </a:r>
          </a:p>
          <a:p>
            <a:pPr algn="l">
              <a:lnSpc>
                <a:spcPts val="4458"/>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2122989" y="610429"/>
            <a:ext cx="8334500" cy="5349234"/>
          </a:xfrm>
          <a:custGeom>
            <a:avLst/>
            <a:gdLst/>
            <a:ahLst/>
            <a:cxnLst/>
            <a:rect r="r" b="b" t="t" l="l"/>
            <a:pathLst>
              <a:path h="5349234" w="8334500">
                <a:moveTo>
                  <a:pt x="0" y="0"/>
                </a:moveTo>
                <a:lnTo>
                  <a:pt x="8334500" y="0"/>
                </a:lnTo>
                <a:lnTo>
                  <a:pt x="8334500" y="5349234"/>
                </a:lnTo>
                <a:lnTo>
                  <a:pt x="0" y="5349234"/>
                </a:lnTo>
                <a:lnTo>
                  <a:pt x="0" y="0"/>
                </a:lnTo>
                <a:close/>
              </a:path>
            </a:pathLst>
          </a:custGeom>
          <a:blipFill>
            <a:blip r:embed="rId2"/>
            <a:stretch>
              <a:fillRect l="0" t="0" r="0" b="0"/>
            </a:stretch>
          </a:blipFill>
        </p:spPr>
      </p:sp>
      <p:sp>
        <p:nvSpPr>
          <p:cNvPr name="TextBox 3" id="3"/>
          <p:cNvSpPr txBox="true"/>
          <p:nvPr/>
        </p:nvSpPr>
        <p:spPr>
          <a:xfrm rot="0">
            <a:off x="3377589" y="2914013"/>
            <a:ext cx="2682578" cy="781052"/>
          </a:xfrm>
          <a:prstGeom prst="rect">
            <a:avLst/>
          </a:prstGeom>
        </p:spPr>
        <p:txBody>
          <a:bodyPr anchor="t" rtlCol="false" tIns="0" lIns="0" bIns="0" rIns="0">
            <a:spAutoFit/>
          </a:bodyPr>
          <a:lstStyle/>
          <a:p>
            <a:pPr algn="ctr">
              <a:lnSpc>
                <a:spcPts val="6299"/>
              </a:lnSpc>
              <a:spcBef>
                <a:spcPct val="0"/>
              </a:spcBef>
            </a:pPr>
            <a:r>
              <a:rPr lang="en-US" b="true" sz="4499">
                <a:solidFill>
                  <a:srgbClr val="092A45"/>
                </a:solidFill>
                <a:latin typeface="Times New Roman Bold"/>
                <a:ea typeface="Times New Roman Bold"/>
                <a:cs typeface="Times New Roman Bold"/>
                <a:sym typeface="Times New Roman Bold"/>
              </a:rPr>
              <a:t>Feasibility </a:t>
            </a:r>
          </a:p>
        </p:txBody>
      </p:sp>
      <p:sp>
        <p:nvSpPr>
          <p:cNvPr name="TextBox 4" id="4"/>
          <p:cNvSpPr txBox="true"/>
          <p:nvPr/>
        </p:nvSpPr>
        <p:spPr>
          <a:xfrm rot="0">
            <a:off x="1365995" y="3637914"/>
            <a:ext cx="7778005" cy="5620386"/>
          </a:xfrm>
          <a:prstGeom prst="rect">
            <a:avLst/>
          </a:prstGeom>
        </p:spPr>
        <p:txBody>
          <a:bodyPr anchor="t" rtlCol="false" tIns="0" lIns="0" bIns="0" rIns="0">
            <a:spAutoFit/>
          </a:bodyPr>
          <a:lstStyle/>
          <a:p>
            <a:pPr algn="just">
              <a:lnSpc>
                <a:spcPts val="3639"/>
              </a:lnSpc>
            </a:pPr>
          </a:p>
          <a:p>
            <a:pPr algn="just" marL="647694" indent="-323847" lvl="1">
              <a:lnSpc>
                <a:spcPts val="4199"/>
              </a:lnSpc>
              <a:buFont typeface="Arial"/>
              <a:buChar char="•"/>
            </a:pPr>
            <a:r>
              <a:rPr lang="en-US" b="true" sz="2999">
                <a:solidFill>
                  <a:srgbClr val="092A45"/>
                </a:solidFill>
                <a:latin typeface="Times New Roman Bold"/>
                <a:ea typeface="Times New Roman Bold"/>
                <a:cs typeface="Times New Roman Bold"/>
                <a:sym typeface="Times New Roman Bold"/>
              </a:rPr>
              <a:t>Technical:</a:t>
            </a:r>
            <a:r>
              <a:rPr lang="en-US" sz="2999">
                <a:solidFill>
                  <a:srgbClr val="092A45"/>
                </a:solidFill>
                <a:latin typeface="Times New Roman"/>
                <a:ea typeface="Times New Roman"/>
                <a:cs typeface="Times New Roman"/>
                <a:sym typeface="Times New Roman"/>
              </a:rPr>
              <a:t> Built using Python and commonly available open-source libraries.</a:t>
            </a:r>
          </a:p>
          <a:p>
            <a:pPr algn="just" marL="647694" indent="-323847" lvl="1">
              <a:lnSpc>
                <a:spcPts val="4199"/>
              </a:lnSpc>
              <a:buFont typeface="Arial"/>
              <a:buChar char="•"/>
            </a:pPr>
            <a:r>
              <a:rPr lang="en-US" b="true" sz="2999">
                <a:solidFill>
                  <a:srgbClr val="092A45"/>
                </a:solidFill>
                <a:latin typeface="Times New Roman Bold"/>
                <a:ea typeface="Times New Roman Bold"/>
                <a:cs typeface="Times New Roman Bold"/>
                <a:sym typeface="Times New Roman Bold"/>
              </a:rPr>
              <a:t>Economic:</a:t>
            </a:r>
            <a:r>
              <a:rPr lang="en-US" sz="2999">
                <a:solidFill>
                  <a:srgbClr val="092A45"/>
                </a:solidFill>
                <a:latin typeface="Times New Roman"/>
                <a:ea typeface="Times New Roman"/>
                <a:cs typeface="Times New Roman"/>
                <a:sym typeface="Times New Roman"/>
              </a:rPr>
              <a:t> Uses free development tools and open-source technologies.</a:t>
            </a:r>
          </a:p>
          <a:p>
            <a:pPr algn="just" marL="647694" indent="-323847" lvl="1">
              <a:lnSpc>
                <a:spcPts val="4199"/>
              </a:lnSpc>
              <a:buFont typeface="Arial"/>
              <a:buChar char="•"/>
            </a:pPr>
            <a:r>
              <a:rPr lang="en-US" b="true" sz="2999">
                <a:solidFill>
                  <a:srgbClr val="092A45"/>
                </a:solidFill>
                <a:latin typeface="Times New Roman Bold"/>
                <a:ea typeface="Times New Roman Bold"/>
                <a:cs typeface="Times New Roman Bold"/>
                <a:sym typeface="Times New Roman Bold"/>
              </a:rPr>
              <a:t>Operational:</a:t>
            </a:r>
            <a:r>
              <a:rPr lang="en-US" sz="2999">
                <a:solidFill>
                  <a:srgbClr val="092A45"/>
                </a:solidFill>
                <a:latin typeface="Times New Roman"/>
                <a:ea typeface="Times New Roman"/>
                <a:cs typeface="Times New Roman"/>
                <a:sym typeface="Times New Roman"/>
              </a:rPr>
              <a:t> Provides a simple web interface for uploading and managing information.</a:t>
            </a:r>
          </a:p>
          <a:p>
            <a:pPr algn="just" marL="647694" indent="-323847" lvl="1">
              <a:lnSpc>
                <a:spcPts val="4199"/>
              </a:lnSpc>
              <a:buFont typeface="Arial"/>
              <a:buChar char="•"/>
            </a:pPr>
            <a:r>
              <a:rPr lang="en-US" b="true" sz="2999">
                <a:solidFill>
                  <a:srgbClr val="092A45"/>
                </a:solidFill>
                <a:latin typeface="Times New Roman Bold"/>
                <a:ea typeface="Times New Roman Bold"/>
                <a:cs typeface="Times New Roman Bold"/>
                <a:sym typeface="Times New Roman Bold"/>
              </a:rPr>
              <a:t>Practical:</a:t>
            </a:r>
            <a:r>
              <a:rPr lang="en-US" sz="2999">
                <a:solidFill>
                  <a:srgbClr val="092A45"/>
                </a:solidFill>
                <a:latin typeface="Times New Roman"/>
                <a:ea typeface="Times New Roman"/>
                <a:cs typeface="Times New Roman"/>
                <a:sym typeface="Times New Roman"/>
              </a:rPr>
              <a:t> Can run locally on a computer without requiring a cloud server.</a:t>
            </a:r>
          </a:p>
          <a:p>
            <a:pPr algn="just">
              <a:lnSpc>
                <a:spcPts val="4199"/>
              </a:lnSpc>
            </a:pPr>
          </a:p>
          <a:p>
            <a:pPr algn="just">
              <a:lnSpc>
                <a:spcPts val="3639"/>
              </a:lnSpc>
              <a:spcBef>
                <a:spcPct val="0"/>
              </a:spcBef>
            </a:pPr>
          </a:p>
        </p:txBody>
      </p:sp>
      <p:sp>
        <p:nvSpPr>
          <p:cNvPr name="TextBox 5" id="5"/>
          <p:cNvSpPr txBox="true"/>
          <p:nvPr/>
        </p:nvSpPr>
        <p:spPr>
          <a:xfrm rot="0">
            <a:off x="9494432" y="4058267"/>
            <a:ext cx="7488644" cy="4129406"/>
          </a:xfrm>
          <a:prstGeom prst="rect">
            <a:avLst/>
          </a:prstGeom>
        </p:spPr>
        <p:txBody>
          <a:bodyPr anchor="t" rtlCol="false" tIns="0" lIns="0" bIns="0" rIns="0">
            <a:spAutoFit/>
          </a:bodyPr>
          <a:lstStyle/>
          <a:p>
            <a:pPr algn="just" marL="647694" indent="-323847" lvl="1">
              <a:lnSpc>
                <a:spcPts val="4199"/>
              </a:lnSpc>
              <a:buFont typeface="Arial"/>
              <a:buChar char="•"/>
            </a:pPr>
            <a:r>
              <a:rPr lang="en-US" sz="2999">
                <a:solidFill>
                  <a:srgbClr val="092A45"/>
                </a:solidFill>
                <a:latin typeface="Times New Roman"/>
                <a:ea typeface="Times New Roman"/>
                <a:cs typeface="Times New Roman"/>
                <a:sym typeface="Times New Roman"/>
              </a:rPr>
              <a:t>Reduces the effort needed to manually record information.</a:t>
            </a:r>
          </a:p>
          <a:p>
            <a:pPr algn="just" marL="647694" indent="-323847" lvl="1">
              <a:lnSpc>
                <a:spcPts val="4199"/>
              </a:lnSpc>
              <a:buFont typeface="Arial"/>
              <a:buChar char="•"/>
            </a:pPr>
            <a:r>
              <a:rPr lang="en-US" sz="2999">
                <a:solidFill>
                  <a:srgbClr val="092A45"/>
                </a:solidFill>
                <a:latin typeface="Times New Roman"/>
                <a:ea typeface="Times New Roman"/>
                <a:cs typeface="Times New Roman"/>
                <a:sym typeface="Times New Roman"/>
              </a:rPr>
              <a:t>Makes stored information easier to find.</a:t>
            </a:r>
          </a:p>
          <a:p>
            <a:pPr algn="just" marL="647694" indent="-323847" lvl="1">
              <a:lnSpc>
                <a:spcPts val="4199"/>
              </a:lnSpc>
              <a:buFont typeface="Arial"/>
              <a:buChar char="•"/>
            </a:pPr>
            <a:r>
              <a:rPr lang="en-US" sz="2999">
                <a:solidFill>
                  <a:srgbClr val="092A45"/>
                </a:solidFill>
                <a:latin typeface="Times New Roman"/>
                <a:ea typeface="Times New Roman"/>
                <a:cs typeface="Times New Roman"/>
                <a:sym typeface="Times New Roman"/>
              </a:rPr>
              <a:t>Helps users keep track of important dates.</a:t>
            </a:r>
          </a:p>
          <a:p>
            <a:pPr algn="just" marL="647694" indent="-323847" lvl="1">
              <a:lnSpc>
                <a:spcPts val="4199"/>
              </a:lnSpc>
              <a:buFont typeface="Arial"/>
              <a:buChar char="•"/>
            </a:pPr>
            <a:r>
              <a:rPr lang="en-US" sz="2999">
                <a:solidFill>
                  <a:srgbClr val="092A45"/>
                </a:solidFill>
                <a:latin typeface="Times New Roman"/>
                <a:ea typeface="Times New Roman"/>
                <a:cs typeface="Times New Roman"/>
                <a:sym typeface="Times New Roman"/>
              </a:rPr>
              <a:t>Supports better organization of personal documents.</a:t>
            </a:r>
          </a:p>
          <a:p>
            <a:pPr algn="just">
              <a:lnSpc>
                <a:spcPts val="4199"/>
              </a:lnSpc>
            </a:pPr>
          </a:p>
          <a:p>
            <a:pPr algn="just">
              <a:lnSpc>
                <a:spcPts val="3639"/>
              </a:lnSpc>
              <a:spcBef>
                <a:spcPct val="0"/>
              </a:spcBef>
            </a:pPr>
          </a:p>
        </p:txBody>
      </p:sp>
      <p:sp>
        <p:nvSpPr>
          <p:cNvPr name="TextBox 6" id="6"/>
          <p:cNvSpPr txBox="true"/>
          <p:nvPr/>
        </p:nvSpPr>
        <p:spPr>
          <a:xfrm rot="0">
            <a:off x="11837172" y="2856865"/>
            <a:ext cx="1968302" cy="781052"/>
          </a:xfrm>
          <a:prstGeom prst="rect">
            <a:avLst/>
          </a:prstGeom>
        </p:spPr>
        <p:txBody>
          <a:bodyPr anchor="t" rtlCol="false" tIns="0" lIns="0" bIns="0" rIns="0">
            <a:spAutoFit/>
          </a:bodyPr>
          <a:lstStyle/>
          <a:p>
            <a:pPr algn="ctr">
              <a:lnSpc>
                <a:spcPts val="6299"/>
              </a:lnSpc>
              <a:spcBef>
                <a:spcPct val="0"/>
              </a:spcBef>
            </a:pPr>
            <a:r>
              <a:rPr lang="en-US" b="true" sz="4499">
                <a:solidFill>
                  <a:srgbClr val="092A45"/>
                </a:solidFill>
                <a:latin typeface="Times New Roman Bold"/>
                <a:ea typeface="Times New Roman Bold"/>
                <a:cs typeface="Times New Roman Bold"/>
                <a:sym typeface="Times New Roman Bold"/>
              </a:rPr>
              <a:t>Impacts</a:t>
            </a:r>
          </a:p>
        </p:txBody>
      </p:sp>
      <p:sp>
        <p:nvSpPr>
          <p:cNvPr name="Freeform 7" id="7"/>
          <p:cNvSpPr/>
          <p:nvPr/>
        </p:nvSpPr>
        <p:spPr>
          <a:xfrm flipH="true" flipV="true" rot="5400000">
            <a:off x="13776309" y="6388000"/>
            <a:ext cx="6048372" cy="3881955"/>
          </a:xfrm>
          <a:custGeom>
            <a:avLst/>
            <a:gdLst/>
            <a:ahLst/>
            <a:cxnLst/>
            <a:rect r="r" b="b" t="t" l="l"/>
            <a:pathLst>
              <a:path h="3881955" w="6048372">
                <a:moveTo>
                  <a:pt x="6048372" y="3881955"/>
                </a:moveTo>
                <a:lnTo>
                  <a:pt x="0" y="3881955"/>
                </a:lnTo>
                <a:lnTo>
                  <a:pt x="0" y="0"/>
                </a:lnTo>
                <a:lnTo>
                  <a:pt x="6048372" y="0"/>
                </a:lnTo>
                <a:lnTo>
                  <a:pt x="6048372" y="3881955"/>
                </a:lnTo>
                <a:close/>
              </a:path>
            </a:pathLst>
          </a:custGeom>
          <a:blipFill>
            <a:blip r:embed="rId2"/>
            <a:stretch>
              <a:fillRect l="0" t="0" r="0" b="0"/>
            </a:stretch>
          </a:blipFill>
        </p:spPr>
      </p:sp>
      <p:sp>
        <p:nvSpPr>
          <p:cNvPr name="TextBox 8" id="8"/>
          <p:cNvSpPr txBox="true"/>
          <p:nvPr/>
        </p:nvSpPr>
        <p:spPr>
          <a:xfrm rot="0">
            <a:off x="-3925505" y="1515713"/>
            <a:ext cx="26139009" cy="472354"/>
          </a:xfrm>
          <a:prstGeom prst="rect">
            <a:avLst/>
          </a:prstGeom>
        </p:spPr>
        <p:txBody>
          <a:bodyPr anchor="t" rtlCol="false" tIns="0" lIns="0" bIns="0" rIns="0">
            <a:spAutoFit/>
          </a:bodyPr>
          <a:lstStyle/>
          <a:p>
            <a:pPr algn="ctr">
              <a:lnSpc>
                <a:spcPts val="3212"/>
              </a:lnSpc>
            </a:pPr>
            <a:r>
              <a:rPr lang="en-US" sz="4588">
                <a:solidFill>
                  <a:srgbClr val="0097B2"/>
                </a:solidFill>
                <a:latin typeface="League Spartan"/>
                <a:ea typeface="League Spartan"/>
                <a:cs typeface="League Spartan"/>
                <a:sym typeface="League Spartan"/>
              </a:rPr>
              <a:t>Feasibility and Impacts</a:t>
            </a:r>
          </a:p>
        </p:txBody>
      </p:sp>
      <p:sp>
        <p:nvSpPr>
          <p:cNvPr name="Freeform 9" id="9"/>
          <p:cNvSpPr/>
          <p:nvPr/>
        </p:nvSpPr>
        <p:spPr>
          <a:xfrm flipH="false" flipV="false" rot="0">
            <a:off x="15834519" y="313158"/>
            <a:ext cx="2297113" cy="983480"/>
          </a:xfrm>
          <a:custGeom>
            <a:avLst/>
            <a:gdLst/>
            <a:ahLst/>
            <a:cxnLst/>
            <a:rect r="r" b="b" t="t" l="l"/>
            <a:pathLst>
              <a:path h="983480" w="2297113">
                <a:moveTo>
                  <a:pt x="0" y="0"/>
                </a:moveTo>
                <a:lnTo>
                  <a:pt x="2297113" y="0"/>
                </a:lnTo>
                <a:lnTo>
                  <a:pt x="2297113" y="983480"/>
                </a:lnTo>
                <a:lnTo>
                  <a:pt x="0" y="983480"/>
                </a:lnTo>
                <a:lnTo>
                  <a:pt x="0" y="0"/>
                </a:lnTo>
                <a:close/>
              </a:path>
            </a:pathLst>
          </a:custGeom>
          <a:blipFill>
            <a:blip r:embed="rId3"/>
            <a:stretch>
              <a:fillRect l="0" t="-8392" r="0" b="-8392"/>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925505" y="2184329"/>
            <a:ext cx="26139009" cy="584200"/>
          </a:xfrm>
          <a:prstGeom prst="rect">
            <a:avLst/>
          </a:prstGeom>
        </p:spPr>
        <p:txBody>
          <a:bodyPr anchor="t" rtlCol="false" tIns="0" lIns="0" bIns="0" rIns="0">
            <a:spAutoFit/>
          </a:bodyPr>
          <a:lstStyle/>
          <a:p>
            <a:pPr algn="ctr">
              <a:lnSpc>
                <a:spcPts val="3920"/>
              </a:lnSpc>
            </a:pPr>
            <a:r>
              <a:rPr lang="en-US" sz="5600">
                <a:solidFill>
                  <a:srgbClr val="0097B2"/>
                </a:solidFill>
                <a:latin typeface="League Spartan"/>
                <a:ea typeface="League Spartan"/>
                <a:cs typeface="League Spartan"/>
                <a:sym typeface="League Spartan"/>
              </a:rPr>
              <a:t>Future Enhancements</a:t>
            </a:r>
          </a:p>
        </p:txBody>
      </p:sp>
      <p:sp>
        <p:nvSpPr>
          <p:cNvPr name="Freeform 3" id="3"/>
          <p:cNvSpPr/>
          <p:nvPr/>
        </p:nvSpPr>
        <p:spPr>
          <a:xfrm flipH="false" flipV="false" rot="0">
            <a:off x="15834519" y="313158"/>
            <a:ext cx="2297113" cy="983480"/>
          </a:xfrm>
          <a:custGeom>
            <a:avLst/>
            <a:gdLst/>
            <a:ahLst/>
            <a:cxnLst/>
            <a:rect r="r" b="b" t="t" l="l"/>
            <a:pathLst>
              <a:path h="983480" w="2297113">
                <a:moveTo>
                  <a:pt x="0" y="0"/>
                </a:moveTo>
                <a:lnTo>
                  <a:pt x="2297113" y="0"/>
                </a:lnTo>
                <a:lnTo>
                  <a:pt x="2297113" y="983480"/>
                </a:lnTo>
                <a:lnTo>
                  <a:pt x="0" y="983480"/>
                </a:lnTo>
                <a:lnTo>
                  <a:pt x="0" y="0"/>
                </a:lnTo>
                <a:close/>
              </a:path>
            </a:pathLst>
          </a:custGeom>
          <a:blipFill>
            <a:blip r:embed="rId2"/>
            <a:stretch>
              <a:fillRect l="0" t="-8392" r="0" b="-8392"/>
            </a:stretch>
          </a:blipFill>
        </p:spPr>
      </p:sp>
      <p:sp>
        <p:nvSpPr>
          <p:cNvPr name="TextBox 4" id="4"/>
          <p:cNvSpPr txBox="true"/>
          <p:nvPr/>
        </p:nvSpPr>
        <p:spPr>
          <a:xfrm rot="0">
            <a:off x="1515566" y="3760403"/>
            <a:ext cx="15743734" cy="4222750"/>
          </a:xfrm>
          <a:prstGeom prst="rect">
            <a:avLst/>
          </a:prstGeom>
        </p:spPr>
        <p:txBody>
          <a:bodyPr anchor="t" rtlCol="false" tIns="0" lIns="0" bIns="0" rIns="0">
            <a:spAutoFit/>
          </a:bodyPr>
          <a:lstStyle/>
          <a:p>
            <a:pPr algn="l" marL="863599" indent="-431800" lvl="1">
              <a:lnSpc>
                <a:spcPts val="5599"/>
              </a:lnSpc>
              <a:spcBef>
                <a:spcPct val="0"/>
              </a:spcBef>
              <a:buFont typeface="Arial"/>
              <a:buChar char="•"/>
            </a:pPr>
            <a:r>
              <a:rPr lang="en-US" sz="3999">
                <a:solidFill>
                  <a:srgbClr val="000000"/>
                </a:solidFill>
                <a:latin typeface="Times New Roman"/>
                <a:ea typeface="Times New Roman"/>
                <a:cs typeface="Times New Roman"/>
                <a:sym typeface="Times New Roman"/>
              </a:rPr>
              <a:t>Add voice-based interaction for easier access.</a:t>
            </a:r>
          </a:p>
          <a:p>
            <a:pPr algn="l" marL="863599" indent="-431800" lvl="1">
              <a:lnSpc>
                <a:spcPts val="5599"/>
              </a:lnSpc>
              <a:spcBef>
                <a:spcPct val="0"/>
              </a:spcBef>
              <a:buFont typeface="Arial"/>
              <a:buChar char="•"/>
            </a:pPr>
            <a:r>
              <a:rPr lang="en-US" sz="3999">
                <a:solidFill>
                  <a:srgbClr val="000000"/>
                </a:solidFill>
                <a:latin typeface="Times New Roman"/>
                <a:ea typeface="Times New Roman"/>
                <a:cs typeface="Times New Roman"/>
                <a:sym typeface="Times New Roman"/>
              </a:rPr>
              <a:t>Introduce multilingual OCR for regional languages.</a:t>
            </a:r>
          </a:p>
          <a:p>
            <a:pPr algn="l" marL="863599" indent="-431800" lvl="1">
              <a:lnSpc>
                <a:spcPts val="5599"/>
              </a:lnSpc>
              <a:spcBef>
                <a:spcPct val="0"/>
              </a:spcBef>
              <a:buFont typeface="Arial"/>
              <a:buChar char="•"/>
            </a:pPr>
            <a:r>
              <a:rPr lang="en-US" sz="3999">
                <a:solidFill>
                  <a:srgbClr val="000000"/>
                </a:solidFill>
                <a:latin typeface="Times New Roman"/>
                <a:ea typeface="Times New Roman"/>
                <a:cs typeface="Times New Roman"/>
                <a:sym typeface="Times New Roman"/>
              </a:rPr>
              <a:t>Add email or mobile notifications for upcoming reminders.</a:t>
            </a:r>
          </a:p>
          <a:p>
            <a:pPr algn="l" marL="863599" indent="-431800" lvl="1">
              <a:lnSpc>
                <a:spcPts val="5599"/>
              </a:lnSpc>
              <a:spcBef>
                <a:spcPct val="0"/>
              </a:spcBef>
              <a:buFont typeface="Arial"/>
              <a:buChar char="•"/>
            </a:pPr>
            <a:r>
              <a:rPr lang="en-US" sz="3999">
                <a:solidFill>
                  <a:srgbClr val="000000"/>
                </a:solidFill>
                <a:latin typeface="Times New Roman"/>
                <a:ea typeface="Times New Roman"/>
                <a:cs typeface="Times New Roman"/>
                <a:sym typeface="Times New Roman"/>
              </a:rPr>
              <a:t>Integrate cloud storage and secure synchronization across devices.</a:t>
            </a:r>
          </a:p>
          <a:p>
            <a:pPr algn="l" marL="863599" indent="-431800" lvl="1">
              <a:lnSpc>
                <a:spcPts val="5599"/>
              </a:lnSpc>
              <a:spcBef>
                <a:spcPct val="0"/>
              </a:spcBef>
              <a:buFont typeface="Arial"/>
              <a:buChar char="•"/>
            </a:pPr>
            <a:r>
              <a:rPr lang="en-US" sz="3999">
                <a:solidFill>
                  <a:srgbClr val="000000"/>
                </a:solidFill>
                <a:latin typeface="Times New Roman"/>
                <a:ea typeface="Times New Roman"/>
                <a:cs typeface="Times New Roman"/>
                <a:sym typeface="Times New Roman"/>
              </a:rPr>
              <a:t>Improve date extraction and automatic identification of important events.</a:t>
            </a:r>
          </a:p>
          <a:p>
            <a:pPr algn="l" marL="863599" indent="-431800" lvl="1">
              <a:lnSpc>
                <a:spcPts val="5599"/>
              </a:lnSpc>
              <a:spcBef>
                <a:spcPct val="0"/>
              </a:spcBef>
              <a:buFont typeface="Arial"/>
              <a:buChar char="•"/>
            </a:pPr>
            <a:r>
              <a:rPr lang="en-US" sz="3999">
                <a:solidFill>
                  <a:srgbClr val="000000"/>
                </a:solidFill>
                <a:latin typeface="Times New Roman"/>
                <a:ea typeface="Times New Roman"/>
                <a:cs typeface="Times New Roman"/>
                <a:sym typeface="Times New Roman"/>
              </a:rPr>
              <a:t>Add authentication, encryption, and stronger privacy controls.</a:t>
            </a:r>
          </a:p>
        </p:txBody>
      </p:sp>
      <p:sp>
        <p:nvSpPr>
          <p:cNvPr name="Freeform 5" id="5"/>
          <p:cNvSpPr/>
          <p:nvPr/>
        </p:nvSpPr>
        <p:spPr>
          <a:xfrm flipH="false" flipV="false" rot="5400000">
            <a:off x="-2122989" y="610429"/>
            <a:ext cx="8334500" cy="5349234"/>
          </a:xfrm>
          <a:custGeom>
            <a:avLst/>
            <a:gdLst/>
            <a:ahLst/>
            <a:cxnLst/>
            <a:rect r="r" b="b" t="t" l="l"/>
            <a:pathLst>
              <a:path h="5349234" w="8334500">
                <a:moveTo>
                  <a:pt x="0" y="0"/>
                </a:moveTo>
                <a:lnTo>
                  <a:pt x="8334500" y="0"/>
                </a:lnTo>
                <a:lnTo>
                  <a:pt x="8334500" y="5349234"/>
                </a:lnTo>
                <a:lnTo>
                  <a:pt x="0" y="5349234"/>
                </a:lnTo>
                <a:lnTo>
                  <a:pt x="0" y="0"/>
                </a:lnTo>
                <a:close/>
              </a:path>
            </a:pathLst>
          </a:custGeom>
          <a:blipFill>
            <a:blip r:embed="rId3"/>
            <a:stretch>
              <a:fillRect l="0" t="0" r="0" b="0"/>
            </a:stretch>
          </a:blipFill>
        </p:spPr>
      </p:sp>
      <p:sp>
        <p:nvSpPr>
          <p:cNvPr name="Freeform 6" id="6"/>
          <p:cNvSpPr/>
          <p:nvPr/>
        </p:nvSpPr>
        <p:spPr>
          <a:xfrm flipH="true" flipV="true" rot="5400000">
            <a:off x="13776309" y="6388000"/>
            <a:ext cx="6048372" cy="3881955"/>
          </a:xfrm>
          <a:custGeom>
            <a:avLst/>
            <a:gdLst/>
            <a:ahLst/>
            <a:cxnLst/>
            <a:rect r="r" b="b" t="t" l="l"/>
            <a:pathLst>
              <a:path h="3881955" w="6048372">
                <a:moveTo>
                  <a:pt x="6048372" y="3881955"/>
                </a:moveTo>
                <a:lnTo>
                  <a:pt x="0" y="3881955"/>
                </a:lnTo>
                <a:lnTo>
                  <a:pt x="0" y="0"/>
                </a:lnTo>
                <a:lnTo>
                  <a:pt x="6048372" y="0"/>
                </a:lnTo>
                <a:lnTo>
                  <a:pt x="6048372" y="3881955"/>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272011" y="-127412"/>
            <a:ext cx="6573468" cy="4791178"/>
          </a:xfrm>
          <a:custGeom>
            <a:avLst/>
            <a:gdLst/>
            <a:ahLst/>
            <a:cxnLst/>
            <a:rect r="r" b="b" t="t" l="l"/>
            <a:pathLst>
              <a:path h="4791178" w="6573468">
                <a:moveTo>
                  <a:pt x="0" y="0"/>
                </a:moveTo>
                <a:lnTo>
                  <a:pt x="6573468" y="0"/>
                </a:lnTo>
                <a:lnTo>
                  <a:pt x="6573468" y="4791178"/>
                </a:lnTo>
                <a:lnTo>
                  <a:pt x="0" y="4791178"/>
                </a:lnTo>
                <a:lnTo>
                  <a:pt x="0" y="0"/>
                </a:lnTo>
                <a:close/>
              </a:path>
            </a:pathLst>
          </a:custGeom>
          <a:blipFill>
            <a:blip r:embed="rId2"/>
            <a:stretch>
              <a:fillRect l="-6781" t="0" r="-6781" b="0"/>
            </a:stretch>
          </a:blipFill>
        </p:spPr>
      </p:sp>
      <p:sp>
        <p:nvSpPr>
          <p:cNvPr name="TextBox 3" id="3"/>
          <p:cNvSpPr txBox="true"/>
          <p:nvPr/>
        </p:nvSpPr>
        <p:spPr>
          <a:xfrm rot="0">
            <a:off x="5073095" y="2001853"/>
            <a:ext cx="8141811" cy="970798"/>
          </a:xfrm>
          <a:prstGeom prst="rect">
            <a:avLst/>
          </a:prstGeom>
        </p:spPr>
        <p:txBody>
          <a:bodyPr anchor="t" rtlCol="false" tIns="0" lIns="0" bIns="0" rIns="0">
            <a:spAutoFit/>
          </a:bodyPr>
          <a:lstStyle/>
          <a:p>
            <a:pPr algn="ctr">
              <a:lnSpc>
                <a:spcPts val="6501"/>
              </a:lnSpc>
            </a:pPr>
            <a:r>
              <a:rPr lang="en-US" sz="9288">
                <a:solidFill>
                  <a:srgbClr val="0097B2"/>
                </a:solidFill>
                <a:latin typeface="League Spartan"/>
                <a:ea typeface="League Spartan"/>
                <a:cs typeface="League Spartan"/>
                <a:sym typeface="League Spartan"/>
              </a:rPr>
              <a:t>References</a:t>
            </a:r>
          </a:p>
        </p:txBody>
      </p:sp>
      <p:sp>
        <p:nvSpPr>
          <p:cNvPr name="Freeform 4" id="4"/>
          <p:cNvSpPr/>
          <p:nvPr/>
        </p:nvSpPr>
        <p:spPr>
          <a:xfrm flipH="false" flipV="false" rot="-5400000">
            <a:off x="12851717" y="5473926"/>
            <a:ext cx="7352766" cy="4428932"/>
          </a:xfrm>
          <a:custGeom>
            <a:avLst/>
            <a:gdLst/>
            <a:ahLst/>
            <a:cxnLst/>
            <a:rect r="r" b="b" t="t" l="l"/>
            <a:pathLst>
              <a:path h="4428932" w="7352766">
                <a:moveTo>
                  <a:pt x="0" y="0"/>
                </a:moveTo>
                <a:lnTo>
                  <a:pt x="7352766" y="0"/>
                </a:lnTo>
                <a:lnTo>
                  <a:pt x="7352766" y="4428932"/>
                </a:lnTo>
                <a:lnTo>
                  <a:pt x="0" y="4428932"/>
                </a:lnTo>
                <a:lnTo>
                  <a:pt x="0" y="0"/>
                </a:lnTo>
                <a:close/>
              </a:path>
            </a:pathLst>
          </a:custGeom>
          <a:blipFill>
            <a:blip r:embed="rId2"/>
            <a:stretch>
              <a:fillRect l="-6350" t="-6659" r="0" b="-6659"/>
            </a:stretch>
          </a:blipFill>
        </p:spPr>
      </p:sp>
      <p:sp>
        <p:nvSpPr>
          <p:cNvPr name="Freeform 5" id="5"/>
          <p:cNvSpPr/>
          <p:nvPr/>
        </p:nvSpPr>
        <p:spPr>
          <a:xfrm flipH="false" flipV="false" rot="0">
            <a:off x="15834519" y="313158"/>
            <a:ext cx="2297113" cy="983480"/>
          </a:xfrm>
          <a:custGeom>
            <a:avLst/>
            <a:gdLst/>
            <a:ahLst/>
            <a:cxnLst/>
            <a:rect r="r" b="b" t="t" l="l"/>
            <a:pathLst>
              <a:path h="983480" w="2297113">
                <a:moveTo>
                  <a:pt x="0" y="0"/>
                </a:moveTo>
                <a:lnTo>
                  <a:pt x="2297113" y="0"/>
                </a:lnTo>
                <a:lnTo>
                  <a:pt x="2297113" y="983480"/>
                </a:lnTo>
                <a:lnTo>
                  <a:pt x="0" y="983480"/>
                </a:lnTo>
                <a:lnTo>
                  <a:pt x="0" y="0"/>
                </a:lnTo>
                <a:close/>
              </a:path>
            </a:pathLst>
          </a:custGeom>
          <a:blipFill>
            <a:blip r:embed="rId3"/>
            <a:stretch>
              <a:fillRect l="0" t="-8392" r="0" b="-8392"/>
            </a:stretch>
          </a:blipFill>
        </p:spPr>
      </p:sp>
      <p:sp>
        <p:nvSpPr>
          <p:cNvPr name="TextBox 6" id="6"/>
          <p:cNvSpPr txBox="true"/>
          <p:nvPr/>
        </p:nvSpPr>
        <p:spPr>
          <a:xfrm rot="0">
            <a:off x="2014723" y="3916759"/>
            <a:ext cx="15617293" cy="4471035"/>
          </a:xfrm>
          <a:prstGeom prst="rect">
            <a:avLst/>
          </a:prstGeom>
        </p:spPr>
        <p:txBody>
          <a:bodyPr anchor="t" rtlCol="false" tIns="0" lIns="0" bIns="0" rIns="0">
            <a:spAutoFit/>
          </a:bodyPr>
          <a:lstStyle/>
          <a:p>
            <a:pPr algn="l" marL="777240" indent="-388620" lvl="1">
              <a:lnSpc>
                <a:spcPts val="5040"/>
              </a:lnSpc>
              <a:buFont typeface="Arial"/>
              <a:buChar char="•"/>
            </a:pPr>
            <a:r>
              <a:rPr lang="en-US" sz="3600" u="sng">
                <a:solidFill>
                  <a:srgbClr val="000000"/>
                </a:solidFill>
                <a:latin typeface="Times New Roman"/>
                <a:ea typeface="Times New Roman"/>
                <a:cs typeface="Times New Roman"/>
                <a:sym typeface="Times New Roman"/>
                <a:hlinkClick r:id="rId4" tooltip="https://tesseract-ocr.github.io/?utm_source=chatgpt.com"/>
              </a:rPr>
              <a:t>Tesseract OCR Documentation</a:t>
            </a:r>
            <a:r>
              <a:rPr lang="en-US" sz="3600">
                <a:solidFill>
                  <a:srgbClr val="000000"/>
                </a:solidFill>
                <a:latin typeface="Times New Roman"/>
                <a:ea typeface="Times New Roman"/>
                <a:cs typeface="Times New Roman"/>
                <a:sym typeface="Times New Roman"/>
              </a:rPr>
              <a:t> — Optical character recognition.</a:t>
            </a:r>
          </a:p>
          <a:p>
            <a:pPr algn="l" marL="777240" indent="-388620" lvl="1">
              <a:lnSpc>
                <a:spcPts val="5040"/>
              </a:lnSpc>
              <a:buFont typeface="Arial"/>
              <a:buChar char="•"/>
            </a:pPr>
            <a:r>
              <a:rPr lang="en-US" sz="3600" u="sng">
                <a:solidFill>
                  <a:srgbClr val="000000"/>
                </a:solidFill>
                <a:latin typeface="Times New Roman"/>
                <a:ea typeface="Times New Roman"/>
                <a:cs typeface="Times New Roman"/>
                <a:sym typeface="Times New Roman"/>
                <a:hlinkClick r:id="rId5" tooltip="https://scikit-learn.org/stable/?utm_source=chatgpt.com"/>
              </a:rPr>
              <a:t>Scikit-learn Documentation</a:t>
            </a:r>
            <a:r>
              <a:rPr lang="en-US" sz="3600">
                <a:solidFill>
                  <a:srgbClr val="000000"/>
                </a:solidFill>
                <a:latin typeface="Times New Roman"/>
                <a:ea typeface="Times New Roman"/>
                <a:cs typeface="Times New Roman"/>
                <a:sym typeface="Times New Roman"/>
              </a:rPr>
              <a:t> — TF-IDF and Logistic Regression.</a:t>
            </a:r>
          </a:p>
          <a:p>
            <a:pPr algn="l" marL="777240" indent="-388620" lvl="1">
              <a:lnSpc>
                <a:spcPts val="5040"/>
              </a:lnSpc>
              <a:buFont typeface="Arial"/>
              <a:buChar char="•"/>
            </a:pPr>
            <a:r>
              <a:rPr lang="en-US" sz="3600" u="sng">
                <a:solidFill>
                  <a:srgbClr val="000000"/>
                </a:solidFill>
                <a:latin typeface="Times New Roman"/>
                <a:ea typeface="Times New Roman"/>
                <a:cs typeface="Times New Roman"/>
                <a:sym typeface="Times New Roman"/>
                <a:hlinkClick r:id="rId6" tooltip="https://flask.palletsprojects.com/?utm_source=chatgpt.com"/>
              </a:rPr>
              <a:t>Flask Documentation</a:t>
            </a:r>
            <a:r>
              <a:rPr lang="en-US" sz="3600">
                <a:solidFill>
                  <a:srgbClr val="000000"/>
                </a:solidFill>
                <a:latin typeface="Times New Roman"/>
                <a:ea typeface="Times New Roman"/>
                <a:cs typeface="Times New Roman"/>
                <a:sym typeface="Times New Roman"/>
              </a:rPr>
              <a:t> — Web application development.</a:t>
            </a:r>
          </a:p>
          <a:p>
            <a:pPr algn="l" marL="777240" indent="-388620" lvl="1">
              <a:lnSpc>
                <a:spcPts val="5040"/>
              </a:lnSpc>
              <a:buFont typeface="Arial"/>
              <a:buChar char="•"/>
            </a:pPr>
            <a:r>
              <a:rPr lang="en-US" sz="3600" u="sng">
                <a:solidFill>
                  <a:srgbClr val="000000"/>
                </a:solidFill>
                <a:latin typeface="Times New Roman"/>
                <a:ea typeface="Times New Roman"/>
                <a:cs typeface="Times New Roman"/>
                <a:sym typeface="Times New Roman"/>
                <a:hlinkClick r:id="rId7" tooltip="https://docs.python.org/3/?utm_source=chatgpt.com"/>
              </a:rPr>
              <a:t>Python Documentation</a:t>
            </a:r>
            <a:r>
              <a:rPr lang="en-US" sz="3600">
                <a:solidFill>
                  <a:srgbClr val="000000"/>
                </a:solidFill>
                <a:latin typeface="Times New Roman"/>
                <a:ea typeface="Times New Roman"/>
                <a:cs typeface="Times New Roman"/>
                <a:sym typeface="Times New Roman"/>
              </a:rPr>
              <a:t> — Python programming.</a:t>
            </a:r>
          </a:p>
          <a:p>
            <a:pPr algn="l" marL="777240" indent="-388620" lvl="1">
              <a:lnSpc>
                <a:spcPts val="5040"/>
              </a:lnSpc>
              <a:buFont typeface="Arial"/>
              <a:buChar char="•"/>
            </a:pPr>
            <a:r>
              <a:rPr lang="en-US" sz="3600" u="sng">
                <a:solidFill>
                  <a:srgbClr val="000000"/>
                </a:solidFill>
                <a:latin typeface="Times New Roman"/>
                <a:ea typeface="Times New Roman"/>
                <a:cs typeface="Times New Roman"/>
                <a:sym typeface="Times New Roman"/>
                <a:hlinkClick r:id="rId8" tooltip="https://www.sqlite.org/docs.html?utm_source=chatgpt.com"/>
              </a:rPr>
              <a:t>SQLite Documentation</a:t>
            </a:r>
            <a:r>
              <a:rPr lang="en-US" sz="3600">
                <a:solidFill>
                  <a:srgbClr val="000000"/>
                </a:solidFill>
                <a:latin typeface="Times New Roman"/>
                <a:ea typeface="Times New Roman"/>
                <a:cs typeface="Times New Roman"/>
                <a:sym typeface="Times New Roman"/>
              </a:rPr>
              <a:t> — Database management.</a:t>
            </a:r>
          </a:p>
          <a:p>
            <a:pPr algn="l" marL="777240" indent="-388620" lvl="1">
              <a:lnSpc>
                <a:spcPts val="5040"/>
              </a:lnSpc>
              <a:buFont typeface="Arial"/>
              <a:buChar char="•"/>
            </a:pPr>
            <a:r>
              <a:rPr lang="en-US" sz="3600" u="sng">
                <a:solidFill>
                  <a:srgbClr val="000000"/>
                </a:solidFill>
                <a:latin typeface="Times New Roman"/>
                <a:ea typeface="Times New Roman"/>
                <a:cs typeface="Times New Roman"/>
                <a:sym typeface="Times New Roman"/>
                <a:hlinkClick r:id="rId9" tooltip="https://github.com/madmaze/pytesseract?utm_source=chatgpt.com"/>
              </a:rPr>
              <a:t>Pytesseract — Python OCR Wrapper</a:t>
            </a:r>
            <a:r>
              <a:rPr lang="en-US" sz="3600">
                <a:solidFill>
                  <a:srgbClr val="000000"/>
                </a:solidFill>
                <a:latin typeface="Times New Roman"/>
                <a:ea typeface="Times New Roman"/>
                <a:cs typeface="Times New Roman"/>
                <a:sym typeface="Times New Roman"/>
              </a:rPr>
              <a:t> — Integrating Tesseract with Python.</a:t>
            </a:r>
          </a:p>
          <a:p>
            <a:pPr algn="l">
              <a:lnSpc>
                <a:spcPts val="504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318790">
            <a:off x="-1618289" y="-1052796"/>
            <a:ext cx="5028101" cy="6893857"/>
          </a:xfrm>
          <a:custGeom>
            <a:avLst/>
            <a:gdLst/>
            <a:ahLst/>
            <a:cxnLst/>
            <a:rect r="r" b="b" t="t" l="l"/>
            <a:pathLst>
              <a:path h="6893857" w="5028101">
                <a:moveTo>
                  <a:pt x="0" y="0"/>
                </a:moveTo>
                <a:lnTo>
                  <a:pt x="5028101" y="0"/>
                </a:lnTo>
                <a:lnTo>
                  <a:pt x="5028101" y="6893857"/>
                </a:lnTo>
                <a:lnTo>
                  <a:pt x="0" y="6893857"/>
                </a:lnTo>
                <a:lnTo>
                  <a:pt x="0" y="0"/>
                </a:lnTo>
                <a:close/>
              </a:path>
            </a:pathLst>
          </a:custGeom>
          <a:blipFill>
            <a:blip r:embed="rId2"/>
            <a:stretch>
              <a:fillRect l="0" t="0" r="-113622" b="0"/>
            </a:stretch>
          </a:blipFill>
        </p:spPr>
      </p:sp>
      <p:sp>
        <p:nvSpPr>
          <p:cNvPr name="Freeform 3" id="3"/>
          <p:cNvSpPr/>
          <p:nvPr/>
        </p:nvSpPr>
        <p:spPr>
          <a:xfrm flipH="false" flipV="false" rot="-5400000">
            <a:off x="10589326" y="3135950"/>
            <a:ext cx="10822632" cy="7602923"/>
          </a:xfrm>
          <a:custGeom>
            <a:avLst/>
            <a:gdLst/>
            <a:ahLst/>
            <a:cxnLst/>
            <a:rect r="r" b="b" t="t" l="l"/>
            <a:pathLst>
              <a:path h="7602923" w="10822632">
                <a:moveTo>
                  <a:pt x="0" y="0"/>
                </a:moveTo>
                <a:lnTo>
                  <a:pt x="10822632" y="0"/>
                </a:lnTo>
                <a:lnTo>
                  <a:pt x="10822632" y="7602923"/>
                </a:lnTo>
                <a:lnTo>
                  <a:pt x="0" y="7602923"/>
                </a:lnTo>
                <a:lnTo>
                  <a:pt x="0" y="0"/>
                </a:lnTo>
                <a:close/>
              </a:path>
            </a:pathLst>
          </a:custGeom>
          <a:blipFill>
            <a:blip r:embed="rId2"/>
            <a:stretch>
              <a:fillRect l="-10974" t="0" r="-10974" b="-11414"/>
            </a:stretch>
          </a:blipFill>
        </p:spPr>
      </p:sp>
      <p:sp>
        <p:nvSpPr>
          <p:cNvPr name="AutoShape 4" id="4"/>
          <p:cNvSpPr/>
          <p:nvPr/>
        </p:nvSpPr>
        <p:spPr>
          <a:xfrm>
            <a:off x="4722084" y="4107038"/>
            <a:ext cx="8843832" cy="0"/>
          </a:xfrm>
          <a:prstGeom prst="line">
            <a:avLst/>
          </a:prstGeom>
          <a:ln cap="flat" w="38100">
            <a:solidFill>
              <a:srgbClr val="0097B2"/>
            </a:solidFill>
            <a:prstDash val="solid"/>
            <a:headEnd type="oval" len="lg" w="lg"/>
            <a:tailEnd type="oval" len="lg" w="lg"/>
          </a:ln>
        </p:spPr>
      </p:sp>
      <p:sp>
        <p:nvSpPr>
          <p:cNvPr name="TextBox 5" id="5"/>
          <p:cNvSpPr txBox="true"/>
          <p:nvPr/>
        </p:nvSpPr>
        <p:spPr>
          <a:xfrm rot="0">
            <a:off x="5524202" y="4303457"/>
            <a:ext cx="7239595" cy="1516308"/>
          </a:xfrm>
          <a:prstGeom prst="rect">
            <a:avLst/>
          </a:prstGeom>
        </p:spPr>
        <p:txBody>
          <a:bodyPr anchor="t" rtlCol="false" tIns="0" lIns="0" bIns="0" rIns="0">
            <a:spAutoFit/>
          </a:bodyPr>
          <a:lstStyle/>
          <a:p>
            <a:pPr algn="ctr">
              <a:lnSpc>
                <a:spcPts val="12498"/>
              </a:lnSpc>
              <a:spcBef>
                <a:spcPct val="0"/>
              </a:spcBef>
            </a:pPr>
            <a:r>
              <a:rPr lang="en-US" sz="8927">
                <a:solidFill>
                  <a:srgbClr val="0097B2"/>
                </a:solidFill>
                <a:latin typeface="League Spartan"/>
                <a:ea typeface="League Spartan"/>
                <a:cs typeface="League Spartan"/>
                <a:sym typeface="League Spartan"/>
              </a:rPr>
              <a:t>THANK YOU</a:t>
            </a:r>
          </a:p>
        </p:txBody>
      </p:sp>
      <p:sp>
        <p:nvSpPr>
          <p:cNvPr name="AutoShape 6" id="6"/>
          <p:cNvSpPr/>
          <p:nvPr/>
        </p:nvSpPr>
        <p:spPr>
          <a:xfrm>
            <a:off x="4722084" y="5821618"/>
            <a:ext cx="8843832" cy="0"/>
          </a:xfrm>
          <a:prstGeom prst="line">
            <a:avLst/>
          </a:prstGeom>
          <a:ln cap="flat" w="38100">
            <a:solidFill>
              <a:srgbClr val="0097B2"/>
            </a:solidFill>
            <a:prstDash val="solid"/>
            <a:headEnd type="oval" len="lg" w="lg"/>
            <a:tailEnd type="oval" len="lg" w="lg"/>
          </a:ln>
        </p:spPr>
      </p:sp>
      <p:sp>
        <p:nvSpPr>
          <p:cNvPr name="Freeform 7" id="7"/>
          <p:cNvSpPr/>
          <p:nvPr/>
        </p:nvSpPr>
        <p:spPr>
          <a:xfrm flipH="true" flipV="false" rot="5318790">
            <a:off x="-1618289" y="5571119"/>
            <a:ext cx="5028101" cy="6893857"/>
          </a:xfrm>
          <a:custGeom>
            <a:avLst/>
            <a:gdLst/>
            <a:ahLst/>
            <a:cxnLst/>
            <a:rect r="r" b="b" t="t" l="l"/>
            <a:pathLst>
              <a:path h="6893857" w="5028101">
                <a:moveTo>
                  <a:pt x="5028101" y="0"/>
                </a:moveTo>
                <a:lnTo>
                  <a:pt x="0" y="0"/>
                </a:lnTo>
                <a:lnTo>
                  <a:pt x="0" y="6893857"/>
                </a:lnTo>
                <a:lnTo>
                  <a:pt x="5028101" y="6893857"/>
                </a:lnTo>
                <a:lnTo>
                  <a:pt x="5028101" y="0"/>
                </a:lnTo>
                <a:close/>
              </a:path>
            </a:pathLst>
          </a:custGeom>
          <a:blipFill>
            <a:blip r:embed="rId2"/>
            <a:stretch>
              <a:fillRect l="0" t="0" r="-113622" b="0"/>
            </a:stretch>
          </a:blipFill>
        </p:spPr>
      </p:sp>
      <p:sp>
        <p:nvSpPr>
          <p:cNvPr name="Freeform 8" id="8"/>
          <p:cNvSpPr/>
          <p:nvPr/>
        </p:nvSpPr>
        <p:spPr>
          <a:xfrm flipH="false" flipV="false" rot="0">
            <a:off x="15834519" y="313158"/>
            <a:ext cx="2297113" cy="983480"/>
          </a:xfrm>
          <a:custGeom>
            <a:avLst/>
            <a:gdLst/>
            <a:ahLst/>
            <a:cxnLst/>
            <a:rect r="r" b="b" t="t" l="l"/>
            <a:pathLst>
              <a:path h="983480" w="2297113">
                <a:moveTo>
                  <a:pt x="0" y="0"/>
                </a:moveTo>
                <a:lnTo>
                  <a:pt x="2297113" y="0"/>
                </a:lnTo>
                <a:lnTo>
                  <a:pt x="2297113" y="983480"/>
                </a:lnTo>
                <a:lnTo>
                  <a:pt x="0" y="983480"/>
                </a:lnTo>
                <a:lnTo>
                  <a:pt x="0" y="0"/>
                </a:lnTo>
                <a:close/>
              </a:path>
            </a:pathLst>
          </a:custGeom>
          <a:blipFill>
            <a:blip r:embed="rId3"/>
            <a:stretch>
              <a:fillRect l="0" t="-8392" r="0" b="-8392"/>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DAHYkWwwOSI</dc:identifier>
  <dcterms:modified xsi:type="dcterms:W3CDTF">2011-08-01T06:04:30Z</dcterms:modified>
  <cp:revision>1</cp:revision>
  <dc:title>Echo_FOAI</dc:title>
</cp:coreProperties>
</file>